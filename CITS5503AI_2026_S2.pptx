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36"/>
  </p:notesMasterIdLst>
  <p:handoutMasterIdLst>
    <p:handoutMasterId r:id="rId37"/>
  </p:handoutMasterIdLst>
  <p:sldIdLst>
    <p:sldId id="1352" r:id="rId2"/>
    <p:sldId id="1368" r:id="rId3"/>
    <p:sldId id="1369" r:id="rId4"/>
    <p:sldId id="1393" r:id="rId5"/>
    <p:sldId id="1395" r:id="rId6"/>
    <p:sldId id="1436" r:id="rId7"/>
    <p:sldId id="275" r:id="rId8"/>
    <p:sldId id="1397" r:id="rId9"/>
    <p:sldId id="1439" r:id="rId10"/>
    <p:sldId id="1440" r:id="rId11"/>
    <p:sldId id="1398" r:id="rId12"/>
    <p:sldId id="1437" r:id="rId13"/>
    <p:sldId id="1438" r:id="rId14"/>
    <p:sldId id="1345" r:id="rId15"/>
    <p:sldId id="1402" r:id="rId16"/>
    <p:sldId id="1403" r:id="rId17"/>
    <p:sldId id="1404" r:id="rId18"/>
    <p:sldId id="1414" r:id="rId19"/>
    <p:sldId id="1417" r:id="rId20"/>
    <p:sldId id="1441" r:id="rId21"/>
    <p:sldId id="1442" r:id="rId22"/>
    <p:sldId id="1443" r:id="rId23"/>
    <p:sldId id="1444" r:id="rId24"/>
    <p:sldId id="1445" r:id="rId25"/>
    <p:sldId id="1446" r:id="rId26"/>
    <p:sldId id="1447" r:id="rId27"/>
    <p:sldId id="1448" r:id="rId28"/>
    <p:sldId id="1364" r:id="rId29"/>
    <p:sldId id="1408" r:id="rId30"/>
    <p:sldId id="1406" r:id="rId31"/>
    <p:sldId id="1410" r:id="rId32"/>
    <p:sldId id="1411" r:id="rId33"/>
    <p:sldId id="1412" r:id="rId34"/>
    <p:sldId id="1430" r:id="rId35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3300"/>
    <a:srgbClr val="33CC33"/>
    <a:srgbClr val="FF9900"/>
    <a:srgbClr val="66FFFF"/>
    <a:srgbClr val="00FFFF"/>
    <a:srgbClr val="00CC00"/>
    <a:srgbClr val="FF3399"/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72" autoAdjust="0"/>
    <p:restoredTop sz="96925" autoAdjust="0"/>
  </p:normalViewPr>
  <p:slideViewPr>
    <p:cSldViewPr snapToGrid="0">
      <p:cViewPr varScale="1">
        <p:scale>
          <a:sx n="121" d="100"/>
          <a:sy n="121" d="100"/>
        </p:scale>
        <p:origin x="416" y="168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9513-4198-BE4B-823C-2718B4D19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3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BF25-8788-5642-919E-5D2C177A1448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5EAE3-43A8-F442-93AA-2A7484E791DA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9D29-B239-3044-9AA5-663F9633C666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B245-5457-9C47-B120-B1247AD8D2D4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53E-DD44-C047-96B5-DDC24EE4745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4459-AE93-244F-AF95-04F31972AD84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4C1C5-0011-0C40-AD09-AC2752EC2BC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B8EC8-F207-6644-B7D1-D9D82C4EE398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959C-3CC2-8E46-AE05-ACA5275D4B1D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5644-0FE9-1C43-9909-3D699EBC7636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0F5D-3E86-144E-87D7-EC598A34CB70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D2999-BC77-D74A-9D97-0EC9FEEA7BF3}" type="datetime1">
              <a:rPr lang="en-AU" smtClean="0"/>
              <a:t>13/9/2026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D35F9-E618-B145-AD1E-3210B3E57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AI and AWS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3D8A4-21A0-DA4D-A8B5-FC198272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05072F42-4DFA-4725-86F9-7594E4AB4EB5}" type="slidenum">
              <a:rPr lang="en-GB">
                <a:solidFill>
                  <a:schemeClr val="tx1"/>
                </a:solidFill>
              </a:rPr>
              <a:pPr/>
              <a:t>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DC589-C325-07E3-37E1-5FF16ED9A1C1}"/>
              </a:ext>
            </a:extLst>
          </p:cNvPr>
          <p:cNvSpPr txBox="1"/>
          <p:nvPr/>
        </p:nvSpPr>
        <p:spPr>
          <a:xfrm>
            <a:off x="436647" y="6063962"/>
            <a:ext cx="344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Larry Huynh </a:t>
            </a:r>
            <a:br>
              <a:rPr lang="en-US" sz="1600" dirty="0"/>
            </a:br>
            <a:r>
              <a:rPr lang="en-US" sz="1600" dirty="0"/>
              <a:t>CITS5503, S2 2026</a:t>
            </a:r>
          </a:p>
        </p:txBody>
      </p:sp>
    </p:spTree>
    <p:extLst>
      <p:ext uri="{BB962C8B-B14F-4D97-AF65-F5344CB8AC3E}">
        <p14:creationId xmlns:p14="http://schemas.microsoft.com/office/powerpoint/2010/main" val="1099418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0735-2550-ED22-D83B-E0AF85157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020"/>
            <a:ext cx="10515600" cy="26915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200" b="0" i="0" dirty="0">
                <a:solidFill>
                  <a:srgbClr val="374151"/>
                </a:solidFill>
                <a:effectLst/>
                <a:latin typeface="Söhne"/>
              </a:rPr>
              <a:t>Is AI taking over human jobs? Is it true that AI is becoming the dominant form of intelligence on Earth? Will it take control of the planet?</a:t>
            </a:r>
            <a:endParaRPr lang="en-AU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029FA-E9C5-7F1D-4DAD-B42B9592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116F028-CC2A-3EE5-2088-A86567D31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6"/>
          <a:stretch/>
        </p:blipFill>
        <p:spPr bwMode="auto">
          <a:xfrm>
            <a:off x="2844027" y="2176977"/>
            <a:ext cx="6503945" cy="436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08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8DCA-B9BA-619A-CA44-FA8EBED1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AI?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DE1B2-DE61-2780-BBB9-E87B7889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73798-D4AA-87F9-F87A-01309A733887}"/>
              </a:ext>
            </a:extLst>
          </p:cNvPr>
          <p:cNvSpPr txBox="1"/>
          <p:nvPr/>
        </p:nvSpPr>
        <p:spPr>
          <a:xfrm>
            <a:off x="6189077" y="2054824"/>
            <a:ext cx="5511800" cy="385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AI:</a:t>
            </a:r>
            <a:r>
              <a:rPr lang="en-AU" sz="2400" b="0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 is about making machines act like humans.</a:t>
            </a:r>
          </a:p>
          <a:p>
            <a:pPr algn="l"/>
            <a:br>
              <a:rPr lang="en-AU" sz="2400" dirty="0">
                <a:solidFill>
                  <a:srgbClr val="374151"/>
                </a:solidFill>
                <a:latin typeface="Söhne"/>
              </a:rPr>
            </a:br>
            <a:r>
              <a:rPr lang="en-AU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öhne"/>
              </a:rPr>
              <a:t>Machine Learning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  <a:latin typeface="Söhne"/>
              </a:rPr>
              <a:t>: </a:t>
            </a:r>
            <a:r>
              <a:rPr lang="en-AU" sz="2400" i="0" dirty="0">
                <a:solidFill>
                  <a:schemeClr val="accent6">
                    <a:lumMod val="75000"/>
                  </a:schemeClr>
                </a:solidFill>
                <a:effectLst/>
                <a:latin typeface="Söhne"/>
              </a:rPr>
              <a:t>extract knowledge from data and learn from it autonomously.</a:t>
            </a:r>
            <a:br>
              <a:rPr lang="en-AU" sz="2400" b="1" i="0" dirty="0">
                <a:effectLst/>
              </a:rPr>
            </a:br>
            <a:br>
              <a:rPr lang="en-AU" sz="2400" b="1" i="0" dirty="0">
                <a:effectLst/>
              </a:rPr>
            </a:br>
            <a:r>
              <a:rPr lang="en-AU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Deep Learning: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uses </a:t>
            </a:r>
            <a:r>
              <a:rPr lang="en-AU" sz="2400" i="0" u="sng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neural network models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that mimic biological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  <a:latin typeface="Söhne"/>
              </a:rPr>
              <a:t>brain structures and</a:t>
            </a:r>
            <a:r>
              <a:rPr lang="en-AU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 </a:t>
            </a:r>
            <a:r>
              <a:rPr lang="en-AU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enhance the automation of training AI models.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7A8479-D79D-EC92-B04B-285221207589}"/>
              </a:ext>
            </a:extLst>
          </p:cNvPr>
          <p:cNvSpPr/>
          <p:nvPr/>
        </p:nvSpPr>
        <p:spPr>
          <a:xfrm>
            <a:off x="331740" y="1832769"/>
            <a:ext cx="5511800" cy="43815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969BDB-CE73-2025-72AE-47882DB2C367}"/>
              </a:ext>
            </a:extLst>
          </p:cNvPr>
          <p:cNvSpPr/>
          <p:nvPr/>
        </p:nvSpPr>
        <p:spPr>
          <a:xfrm>
            <a:off x="830728" y="3090069"/>
            <a:ext cx="4513824" cy="29718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2B6B0-6ECE-4A7A-9B5C-A3F0074F61AE}"/>
              </a:ext>
            </a:extLst>
          </p:cNvPr>
          <p:cNvSpPr txBox="1"/>
          <p:nvPr/>
        </p:nvSpPr>
        <p:spPr>
          <a:xfrm>
            <a:off x="1893840" y="2013654"/>
            <a:ext cx="238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Artificial Intelligence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13198-B8D8-701B-A3E0-067D534F8447}"/>
              </a:ext>
            </a:extLst>
          </p:cNvPr>
          <p:cNvSpPr txBox="1"/>
          <p:nvPr/>
        </p:nvSpPr>
        <p:spPr>
          <a:xfrm>
            <a:off x="1893840" y="3331021"/>
            <a:ext cx="23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Machine Learning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A4A64E-097F-3C25-4630-96AF3D112E50}"/>
              </a:ext>
            </a:extLst>
          </p:cNvPr>
          <p:cNvSpPr/>
          <p:nvPr/>
        </p:nvSpPr>
        <p:spPr>
          <a:xfrm>
            <a:off x="1327872" y="4275286"/>
            <a:ext cx="3519536" cy="15494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F8549-ED1C-4A39-25BB-615692111A7B}"/>
              </a:ext>
            </a:extLst>
          </p:cNvPr>
          <p:cNvSpPr txBox="1"/>
          <p:nvPr/>
        </p:nvSpPr>
        <p:spPr>
          <a:xfrm>
            <a:off x="1893840" y="4588321"/>
            <a:ext cx="23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79233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FE0A7-AA73-9DF3-9620-619C804A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>
                <a:solidFill>
                  <a:srgbClr val="FFFFFF"/>
                </a:solidFill>
                <a:latin typeface="+mn-lt"/>
              </a:rPr>
              <a:pPr/>
              <a:t>4</a:t>
            </a:fld>
            <a:endParaRPr lang="en-US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E52ED-C9E9-87B0-1290-9D47FC51B734}"/>
              </a:ext>
            </a:extLst>
          </p:cNvPr>
          <p:cNvSpPr/>
          <p:nvPr/>
        </p:nvSpPr>
        <p:spPr>
          <a:xfrm>
            <a:off x="9944759" y="84009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Question Answering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5C2E25-25C4-6FB9-D2C8-25FF8ECD9EF0}"/>
              </a:ext>
            </a:extLst>
          </p:cNvPr>
          <p:cNvSpPr/>
          <p:nvPr/>
        </p:nvSpPr>
        <p:spPr>
          <a:xfrm>
            <a:off x="9935615" y="5393807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Instruction Following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99098-8A56-C3FC-95BE-4E81F0B027CE}"/>
              </a:ext>
            </a:extLst>
          </p:cNvPr>
          <p:cNvSpPr/>
          <p:nvPr/>
        </p:nvSpPr>
        <p:spPr>
          <a:xfrm>
            <a:off x="9944759" y="1775831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Sentiment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D66F5-9061-00E5-F55B-065630C33124}"/>
              </a:ext>
            </a:extLst>
          </p:cNvPr>
          <p:cNvSpPr/>
          <p:nvPr/>
        </p:nvSpPr>
        <p:spPr>
          <a:xfrm>
            <a:off x="9935615" y="260793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Information Extraction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E31B33-2AD9-17E8-291A-EF2461E98055}"/>
              </a:ext>
            </a:extLst>
          </p:cNvPr>
          <p:cNvSpPr/>
          <p:nvPr/>
        </p:nvSpPr>
        <p:spPr>
          <a:xfrm>
            <a:off x="9938663" y="3601583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Image Caption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D2354C-D41E-1D7A-04B8-7040BC4CB8E3}"/>
              </a:ext>
            </a:extLst>
          </p:cNvPr>
          <p:cNvSpPr/>
          <p:nvPr/>
        </p:nvSpPr>
        <p:spPr>
          <a:xfrm>
            <a:off x="9938663" y="4497695"/>
            <a:ext cx="1591056" cy="597408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 Recognition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BBC601-5A6C-31A0-92EF-193BCD341498}"/>
              </a:ext>
            </a:extLst>
          </p:cNvPr>
          <p:cNvSpPr/>
          <p:nvPr/>
        </p:nvSpPr>
        <p:spPr>
          <a:xfrm>
            <a:off x="771700" y="129119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3B67E-C04E-32B3-5D1D-E65F37EE920A}"/>
              </a:ext>
            </a:extLst>
          </p:cNvPr>
          <p:cNvSpPr/>
          <p:nvPr/>
        </p:nvSpPr>
        <p:spPr>
          <a:xfrm>
            <a:off x="771700" y="2226935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Images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73EB0-A53F-1227-D5A9-1BBEEA10142E}"/>
              </a:ext>
            </a:extLst>
          </p:cNvPr>
          <p:cNvSpPr/>
          <p:nvPr/>
        </p:nvSpPr>
        <p:spPr>
          <a:xfrm>
            <a:off x="762556" y="305903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Speech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1ED59-4451-C48F-7B13-9D79846F4696}"/>
              </a:ext>
            </a:extLst>
          </p:cNvPr>
          <p:cNvSpPr/>
          <p:nvPr/>
        </p:nvSpPr>
        <p:spPr>
          <a:xfrm>
            <a:off x="765604" y="4077072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Tabular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8FAFFE-3B5A-D6FF-E027-E288DBCF0ED2}"/>
              </a:ext>
            </a:extLst>
          </p:cNvPr>
          <p:cNvSpPr/>
          <p:nvPr/>
        </p:nvSpPr>
        <p:spPr>
          <a:xfrm>
            <a:off x="765604" y="4948799"/>
            <a:ext cx="1591056" cy="5974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3D signals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0182F9-01F1-A197-F4F0-FF4994A67647}"/>
              </a:ext>
            </a:extLst>
          </p:cNvPr>
          <p:cNvSpPr/>
          <p:nvPr/>
        </p:nvSpPr>
        <p:spPr>
          <a:xfrm>
            <a:off x="5309946" y="2892606"/>
            <a:ext cx="1371600" cy="88696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Model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55FFDD-26B9-F153-DB98-8208A2A33B39}"/>
              </a:ext>
            </a:extLst>
          </p:cNvPr>
          <p:cNvCxnSpPr>
            <a:cxnSpLocks/>
          </p:cNvCxnSpPr>
          <p:nvPr/>
        </p:nvCxnSpPr>
        <p:spPr>
          <a:xfrm>
            <a:off x="2903838" y="3336090"/>
            <a:ext cx="2351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01907D-59BA-C8D0-567C-0F0F9900B94C}"/>
              </a:ext>
            </a:extLst>
          </p:cNvPr>
          <p:cNvCxnSpPr>
            <a:cxnSpLocks/>
          </p:cNvCxnSpPr>
          <p:nvPr/>
        </p:nvCxnSpPr>
        <p:spPr>
          <a:xfrm>
            <a:off x="6681546" y="3336090"/>
            <a:ext cx="2531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DA718B-24A6-0711-AADD-0FABB060CD27}"/>
              </a:ext>
            </a:extLst>
          </p:cNvPr>
          <p:cNvCxnSpPr>
            <a:cxnSpLocks/>
          </p:cNvCxnSpPr>
          <p:nvPr/>
        </p:nvCxnSpPr>
        <p:spPr>
          <a:xfrm>
            <a:off x="9188855" y="1125083"/>
            <a:ext cx="24384" cy="456742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EBE78F-5319-9AB4-B5D5-63E629883FA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9188855" y="1125083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E4CD18-EAFC-AF53-9F41-A32D14D984CF}"/>
              </a:ext>
            </a:extLst>
          </p:cNvPr>
          <p:cNvCxnSpPr>
            <a:cxnSpLocks/>
          </p:cNvCxnSpPr>
          <p:nvPr/>
        </p:nvCxnSpPr>
        <p:spPr>
          <a:xfrm>
            <a:off x="9213239" y="2068947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7E3505-3ECE-7D68-6D2B-4CCD06789AA3}"/>
              </a:ext>
            </a:extLst>
          </p:cNvPr>
          <p:cNvCxnSpPr>
            <a:cxnSpLocks/>
          </p:cNvCxnSpPr>
          <p:nvPr/>
        </p:nvCxnSpPr>
        <p:spPr>
          <a:xfrm>
            <a:off x="9197999" y="2926705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262FD0-3CBD-70E5-DE8B-E6D72FDB1C40}"/>
              </a:ext>
            </a:extLst>
          </p:cNvPr>
          <p:cNvCxnSpPr>
            <a:cxnSpLocks/>
          </p:cNvCxnSpPr>
          <p:nvPr/>
        </p:nvCxnSpPr>
        <p:spPr>
          <a:xfrm>
            <a:off x="9213239" y="3958707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D1475D1-D1A5-6110-2ED9-DAEE5F332A2E}"/>
              </a:ext>
            </a:extLst>
          </p:cNvPr>
          <p:cNvCxnSpPr>
            <a:cxnSpLocks/>
          </p:cNvCxnSpPr>
          <p:nvPr/>
        </p:nvCxnSpPr>
        <p:spPr>
          <a:xfrm>
            <a:off x="9213239" y="4812909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26E865B2-16BF-1580-2207-BE3BE8363158}"/>
              </a:ext>
            </a:extLst>
          </p:cNvPr>
          <p:cNvCxnSpPr>
            <a:cxnSpLocks/>
          </p:cNvCxnSpPr>
          <p:nvPr/>
        </p:nvCxnSpPr>
        <p:spPr>
          <a:xfrm>
            <a:off x="9213239" y="5697845"/>
            <a:ext cx="755904" cy="1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6CD103D9-A1E7-7F4A-020A-CD3A33E05DA6}"/>
              </a:ext>
            </a:extLst>
          </p:cNvPr>
          <p:cNvCxnSpPr/>
          <p:nvPr/>
        </p:nvCxnSpPr>
        <p:spPr>
          <a:xfrm>
            <a:off x="3021124" y="1589903"/>
            <a:ext cx="0" cy="3657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04DA06F9-6B51-C99E-FDC6-C6E9E08E15EE}"/>
              </a:ext>
            </a:extLst>
          </p:cNvPr>
          <p:cNvCxnSpPr>
            <a:stCxn id="13" idx="3"/>
          </p:cNvCxnSpPr>
          <p:nvPr/>
        </p:nvCxnSpPr>
        <p:spPr>
          <a:xfrm>
            <a:off x="2362756" y="1589903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5104B7F2-6748-74D6-2A3D-A75C6928BEFF}"/>
              </a:ext>
            </a:extLst>
          </p:cNvPr>
          <p:cNvCxnSpPr/>
          <p:nvPr/>
        </p:nvCxnSpPr>
        <p:spPr>
          <a:xfrm>
            <a:off x="2353612" y="2525639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A5B585FE-4F8B-4FF9-6E8F-3DB377DE019E}"/>
              </a:ext>
            </a:extLst>
          </p:cNvPr>
          <p:cNvCxnSpPr/>
          <p:nvPr/>
        </p:nvCxnSpPr>
        <p:spPr>
          <a:xfrm>
            <a:off x="2362756" y="3336090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0271C67D-B753-2181-C9E4-B40C7E6BBACE}"/>
              </a:ext>
            </a:extLst>
          </p:cNvPr>
          <p:cNvCxnSpPr/>
          <p:nvPr/>
        </p:nvCxnSpPr>
        <p:spPr>
          <a:xfrm>
            <a:off x="2353612" y="4357487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2062B3A9-1ED4-C544-AB6C-2E7C2156F299}"/>
              </a:ext>
            </a:extLst>
          </p:cNvPr>
          <p:cNvCxnSpPr/>
          <p:nvPr/>
        </p:nvCxnSpPr>
        <p:spPr>
          <a:xfrm>
            <a:off x="2353612" y="5247503"/>
            <a:ext cx="65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Box 1043">
            <a:extLst>
              <a:ext uri="{FF2B5EF4-FFF2-40B4-BE49-F238E27FC236}">
                <a16:creationId xmlns:a16="http://schemas.microsoft.com/office/drawing/2014/main" id="{8BFBC239-FE90-74CC-C319-20DB847A41BE}"/>
              </a:ext>
            </a:extLst>
          </p:cNvPr>
          <p:cNvSpPr txBox="1"/>
          <p:nvPr/>
        </p:nvSpPr>
        <p:spPr>
          <a:xfrm>
            <a:off x="3598980" y="2940421"/>
            <a:ext cx="1078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Training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09769D9-00BD-CDAD-8689-2203A9A6CF22}"/>
              </a:ext>
            </a:extLst>
          </p:cNvPr>
          <p:cNvSpPr txBox="1"/>
          <p:nvPr/>
        </p:nvSpPr>
        <p:spPr>
          <a:xfrm>
            <a:off x="7245116" y="2941253"/>
            <a:ext cx="1404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Adaptation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1C4C399-84C9-BC8E-81C1-7ABA8C50E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525" y="4429937"/>
            <a:ext cx="1173942" cy="117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A7191F5-6EF2-0306-16BB-6ADB5FFCC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611" y="4386606"/>
            <a:ext cx="1437842" cy="125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5598B7A8-B641-CF71-690F-739ACD4C5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77" y="4497148"/>
            <a:ext cx="1454933" cy="10244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7B0DAD7-B278-65AA-3B7F-D43AF5157380}"/>
              </a:ext>
            </a:extLst>
          </p:cNvPr>
          <p:cNvSpPr txBox="1"/>
          <p:nvPr/>
        </p:nvSpPr>
        <p:spPr>
          <a:xfrm>
            <a:off x="3243348" y="5681306"/>
            <a:ext cx="1592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Support Vector </a:t>
            </a:r>
            <a:br>
              <a:rPr lang="en-AU" sz="1600" dirty="0"/>
            </a:br>
            <a:r>
              <a:rPr lang="en-AU" sz="1600" dirty="0"/>
              <a:t>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FB266E-92C9-6EC4-BDBD-5F5C5FA547F6}"/>
              </a:ext>
            </a:extLst>
          </p:cNvPr>
          <p:cNvSpPr txBox="1"/>
          <p:nvPr/>
        </p:nvSpPr>
        <p:spPr>
          <a:xfrm>
            <a:off x="5093109" y="5699759"/>
            <a:ext cx="929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Random</a:t>
            </a:r>
            <a:br>
              <a:rPr lang="en-AU" sz="1600" dirty="0"/>
            </a:br>
            <a:r>
              <a:rPr lang="en-AU" sz="1600" dirty="0"/>
              <a:t>Forest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5A6A14-3116-6091-8E5C-2BEC83127EC2}"/>
              </a:ext>
            </a:extLst>
          </p:cNvPr>
          <p:cNvSpPr txBox="1"/>
          <p:nvPr/>
        </p:nvSpPr>
        <p:spPr>
          <a:xfrm>
            <a:off x="7382061" y="5710425"/>
            <a:ext cx="1072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Neural</a:t>
            </a:r>
            <a:br>
              <a:rPr lang="en-AU" sz="1600" b="1" dirty="0"/>
            </a:br>
            <a:r>
              <a:rPr lang="en-AU" sz="1600" b="1" dirty="0"/>
              <a:t>Network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99A8D-4EBC-743C-6987-201A6E361EAB}"/>
              </a:ext>
            </a:extLst>
          </p:cNvPr>
          <p:cNvSpPr txBox="1"/>
          <p:nvPr/>
        </p:nvSpPr>
        <p:spPr>
          <a:xfrm>
            <a:off x="6500856" y="467448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…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2D839089-9148-0186-3CA5-D38927F3B1E7}"/>
              </a:ext>
            </a:extLst>
          </p:cNvPr>
          <p:cNvSpPr/>
          <p:nvPr/>
        </p:nvSpPr>
        <p:spPr>
          <a:xfrm rot="5400000">
            <a:off x="5871156" y="1425258"/>
            <a:ext cx="303644" cy="53036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6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B5713-AF3C-1C7A-B53F-7EACC469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-85537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z="5400" dirty="0">
                <a:solidFill>
                  <a:srgbClr val="595959"/>
                </a:solidFill>
              </a:rPr>
              <a:t>Types of Machine Learning 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5423-F57C-E0B0-75B0-89F032A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 smtClean="0">
                <a:latin typeface="+mn-lt"/>
              </a:rPr>
              <a:pPr/>
              <a:t>5</a:t>
            </a:fld>
            <a:endParaRPr lang="en-US">
              <a:latin typeface="+mn-lt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41C644-6D36-D7D2-593F-BA142842C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3276600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3E569EA-6CF7-B687-84C3-B40AD0D74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57" y="1169055"/>
            <a:ext cx="10701943" cy="518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4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5713-AF3C-1C7A-B53F-7EACC469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 </a:t>
            </a:r>
            <a:r>
              <a:rPr lang="en-US" sz="5200" dirty="0"/>
              <a:t>Infrastructure 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2" name="Picture 8" descr="Feed forward networks">
            <a:extLst>
              <a:ext uri="{FF2B5EF4-FFF2-40B4-BE49-F238E27FC236}">
                <a16:creationId xmlns:a16="http://schemas.microsoft.com/office/drawing/2014/main" id="{E78B488A-F241-65D0-B9F3-7D525E7B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5129" y="1845426"/>
            <a:ext cx="7918688" cy="445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5423-F57C-E0B0-75B0-89F032A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 smtClean="0">
                <a:latin typeface="+mn-lt"/>
              </a:rPr>
              <a:pPr/>
              <a:t>6</a:t>
            </a:fld>
            <a:endParaRPr lang="en-US">
              <a:latin typeface="+mn-lt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41C644-6D36-D7D2-593F-BA142842C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3276600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27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4" descr="f(x) = \frac{1}{1 + \mathrm e^{-x}} ">
            <a:extLst>
              <a:ext uri="{FF2B5EF4-FFF2-40B4-BE49-F238E27FC236}">
                <a16:creationId xmlns:a16="http://schemas.microsoft.com/office/drawing/2014/main" id="{EB9E4FF3-76C0-674D-AA70-A58F8133D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589" y="815546"/>
            <a:ext cx="1684545" cy="56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 descr="http://upload.wikimedia.org/wikipedia/commons/thumb/8/88/Logistic-curve.svg/480px-Logistic-curve.svg.png">
            <a:extLst>
              <a:ext uri="{FF2B5EF4-FFF2-40B4-BE49-F238E27FC236}">
                <a16:creationId xmlns:a16="http://schemas.microsoft.com/office/drawing/2014/main" id="{CDFCF0A3-1F4C-3F42-9BEA-6E6AEC610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026" y="1377061"/>
            <a:ext cx="3048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60961BF-5919-4D48-9BEE-77E9C09BB84E}"/>
              </a:ext>
            </a:extLst>
          </p:cNvPr>
          <p:cNvSpPr/>
          <p:nvPr/>
        </p:nvSpPr>
        <p:spPr>
          <a:xfrm>
            <a:off x="2355374" y="33500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0E4725-2B69-1F4D-A30C-97FD53E43B57}"/>
              </a:ext>
            </a:extLst>
          </p:cNvPr>
          <p:cNvSpPr/>
          <p:nvPr/>
        </p:nvSpPr>
        <p:spPr>
          <a:xfrm>
            <a:off x="2355374" y="42644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FE967F-8375-8B43-86F3-E838BC96C9F7}"/>
              </a:ext>
            </a:extLst>
          </p:cNvPr>
          <p:cNvSpPr/>
          <p:nvPr/>
        </p:nvSpPr>
        <p:spPr>
          <a:xfrm>
            <a:off x="2383083" y="5178858"/>
            <a:ext cx="609600" cy="6373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FD36DB-C2ED-2E41-974B-A68FDCA2029C}"/>
              </a:ext>
            </a:extLst>
          </p:cNvPr>
          <p:cNvSpPr/>
          <p:nvPr/>
        </p:nvSpPr>
        <p:spPr>
          <a:xfrm>
            <a:off x="4544341" y="3100675"/>
            <a:ext cx="3103318" cy="299258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893F4A-5DB5-D747-8ECC-EE84E33D50A3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6096000" y="3100675"/>
            <a:ext cx="0" cy="2992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B31A0C-9250-1041-B4AC-C9CA3F581FDE}"/>
              </a:ext>
            </a:extLst>
          </p:cNvPr>
          <p:cNvCxnSpPr>
            <a:cxnSpLocks/>
          </p:cNvCxnSpPr>
          <p:nvPr/>
        </p:nvCxnSpPr>
        <p:spPr>
          <a:xfrm>
            <a:off x="6866058" y="4264459"/>
            <a:ext cx="0" cy="637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E04FCB-F3F2-1842-B4F9-BDEADD1B3C6B}"/>
              </a:ext>
            </a:extLst>
          </p:cNvPr>
          <p:cNvCxnSpPr>
            <a:cxnSpLocks/>
          </p:cNvCxnSpPr>
          <p:nvPr/>
        </p:nvCxnSpPr>
        <p:spPr>
          <a:xfrm>
            <a:off x="6464275" y="4901768"/>
            <a:ext cx="845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4669586F-CF7A-6044-824A-EF6FFBFA1F20}"/>
              </a:ext>
            </a:extLst>
          </p:cNvPr>
          <p:cNvSpPr/>
          <p:nvPr/>
        </p:nvSpPr>
        <p:spPr>
          <a:xfrm>
            <a:off x="6318803" y="4264458"/>
            <a:ext cx="990599" cy="637310"/>
          </a:xfrm>
          <a:custGeom>
            <a:avLst/>
            <a:gdLst>
              <a:gd name="connsiteX0" fmla="*/ 0 w 1094509"/>
              <a:gd name="connsiteY0" fmla="*/ 757478 h 757478"/>
              <a:gd name="connsiteX1" fmla="*/ 457200 w 1094509"/>
              <a:gd name="connsiteY1" fmla="*/ 646641 h 757478"/>
              <a:gd name="connsiteX2" fmla="*/ 692728 w 1094509"/>
              <a:gd name="connsiteY2" fmla="*/ 106314 h 757478"/>
              <a:gd name="connsiteX3" fmla="*/ 1025237 w 1094509"/>
              <a:gd name="connsiteY3" fmla="*/ 9332 h 757478"/>
              <a:gd name="connsiteX4" fmla="*/ 1094509 w 1094509"/>
              <a:gd name="connsiteY4" fmla="*/ 9332 h 75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509" h="757478">
                <a:moveTo>
                  <a:pt x="0" y="757478"/>
                </a:moveTo>
                <a:cubicBezTo>
                  <a:pt x="170872" y="756323"/>
                  <a:pt x="341745" y="755168"/>
                  <a:pt x="457200" y="646641"/>
                </a:cubicBezTo>
                <a:cubicBezTo>
                  <a:pt x="572655" y="538114"/>
                  <a:pt x="598055" y="212532"/>
                  <a:pt x="692728" y="106314"/>
                </a:cubicBezTo>
                <a:cubicBezTo>
                  <a:pt x="787401" y="96"/>
                  <a:pt x="958274" y="25496"/>
                  <a:pt x="1025237" y="9332"/>
                </a:cubicBezTo>
                <a:cubicBezTo>
                  <a:pt x="1092200" y="-6832"/>
                  <a:pt x="1093354" y="1250"/>
                  <a:pt x="1094509" y="9332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88D752-1738-474C-925E-CA77EF5FD694}"/>
              </a:ext>
            </a:extLst>
          </p:cNvPr>
          <p:cNvCxnSpPr>
            <a:stCxn id="3" idx="6"/>
            <a:endCxn id="17" idx="2"/>
          </p:cNvCxnSpPr>
          <p:nvPr/>
        </p:nvCxnSpPr>
        <p:spPr>
          <a:xfrm>
            <a:off x="2964974" y="3668713"/>
            <a:ext cx="1579367" cy="928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B1EB51-6722-5648-A043-503F2935F0D9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2964974" y="4583113"/>
            <a:ext cx="1579367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B90A2C-FD85-A742-A5BB-EDBC1EA7A917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2992683" y="4596967"/>
            <a:ext cx="1551658" cy="900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D129E9-D762-EC44-915F-21441D5B7FE9}"/>
              </a:ext>
            </a:extLst>
          </p:cNvPr>
          <p:cNvCxnSpPr>
            <a:stCxn id="17" idx="6"/>
          </p:cNvCxnSpPr>
          <p:nvPr/>
        </p:nvCxnSpPr>
        <p:spPr>
          <a:xfrm flipV="1">
            <a:off x="7647659" y="4583113"/>
            <a:ext cx="1695926" cy="1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374B51-A70C-D540-AAA2-647DAC90D4EE}"/>
                  </a:ext>
                </a:extLst>
              </p:cNvPr>
              <p:cNvSpPr txBox="1"/>
              <p:nvPr/>
            </p:nvSpPr>
            <p:spPr>
              <a:xfrm>
                <a:off x="4595400" y="4215451"/>
                <a:ext cx="1454116" cy="837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374B51-A70C-D540-AAA2-647DAC90D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00" y="4215451"/>
                <a:ext cx="1454116" cy="837602"/>
              </a:xfrm>
              <a:prstGeom prst="rect">
                <a:avLst/>
              </a:prstGeom>
              <a:blipFill>
                <a:blip r:embed="rId5"/>
                <a:stretch>
                  <a:fillRect l="-57759" t="-127273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78530F-FD82-1F4B-A42E-AD7B5B0E13C7}"/>
                  </a:ext>
                </a:extLst>
              </p:cNvPr>
              <p:cNvSpPr txBox="1"/>
              <p:nvPr/>
            </p:nvSpPr>
            <p:spPr>
              <a:xfrm>
                <a:off x="9440869" y="4367668"/>
                <a:ext cx="288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78530F-FD82-1F4B-A42E-AD7B5B0E1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869" y="4367668"/>
                <a:ext cx="288284" cy="430887"/>
              </a:xfrm>
              <a:prstGeom prst="rect">
                <a:avLst/>
              </a:prstGeom>
              <a:blipFill>
                <a:blip r:embed="rId6"/>
                <a:stretch>
                  <a:fillRect l="-45833" t="-14286" r="-4167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92148A-4225-EA4E-950D-9CE67694ADA4}"/>
                  </a:ext>
                </a:extLst>
              </p:cNvPr>
              <p:cNvSpPr txBox="1"/>
              <p:nvPr/>
            </p:nvSpPr>
            <p:spPr>
              <a:xfrm>
                <a:off x="3522685" y="3724223"/>
                <a:ext cx="317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92148A-4225-EA4E-950D-9CE67694A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3724223"/>
                <a:ext cx="317138" cy="276999"/>
              </a:xfrm>
              <a:prstGeom prst="rect">
                <a:avLst/>
              </a:prstGeom>
              <a:blipFill>
                <a:blip r:embed="rId7"/>
                <a:stretch>
                  <a:fillRect l="-26923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443D4E-5AE9-2E40-B1BC-2EE8C5E392A5}"/>
                  </a:ext>
                </a:extLst>
              </p:cNvPr>
              <p:cNvSpPr txBox="1"/>
              <p:nvPr/>
            </p:nvSpPr>
            <p:spPr>
              <a:xfrm>
                <a:off x="3522685" y="4257484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443D4E-5AE9-2E40-B1BC-2EE8C5E3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4257484"/>
                <a:ext cx="322461" cy="276999"/>
              </a:xfrm>
              <a:prstGeom prst="rect">
                <a:avLst/>
              </a:prstGeom>
              <a:blipFill>
                <a:blip r:embed="rId8"/>
                <a:stretch>
                  <a:fillRect l="-2692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F0EFCD-46A3-D547-B4A1-405C309F983D}"/>
                  </a:ext>
                </a:extLst>
              </p:cNvPr>
              <p:cNvSpPr txBox="1"/>
              <p:nvPr/>
            </p:nvSpPr>
            <p:spPr>
              <a:xfrm>
                <a:off x="3522685" y="4743182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F0EFCD-46A3-D547-B4A1-405C309F9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5" y="4743182"/>
                <a:ext cx="322461" cy="276999"/>
              </a:xfrm>
              <a:prstGeom prst="rect">
                <a:avLst/>
              </a:prstGeom>
              <a:blipFill>
                <a:blip r:embed="rId9"/>
                <a:stretch>
                  <a:fillRect l="-2692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itle 1">
            <a:extLst>
              <a:ext uri="{FF2B5EF4-FFF2-40B4-BE49-F238E27FC236}">
                <a16:creationId xmlns:a16="http://schemas.microsoft.com/office/drawing/2014/main" id="{B9DFDF5F-3360-8346-AC9C-E03B8CBA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62" y="91836"/>
            <a:ext cx="10515600" cy="1325563"/>
          </a:xfrm>
        </p:spPr>
        <p:txBody>
          <a:bodyPr/>
          <a:lstStyle/>
          <a:p>
            <a:r>
              <a:rPr lang="en-US" altLang="en-US" dirty="0"/>
              <a:t>Perceptron (Single node neural network)</a:t>
            </a: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5FEE326E-8DE4-1642-B269-1EC9DAC6C2DD}"/>
              </a:ext>
            </a:extLst>
          </p:cNvPr>
          <p:cNvCxnSpPr>
            <a:cxnSpLocks/>
            <a:stCxn id="9220" idx="2"/>
          </p:cNvCxnSpPr>
          <p:nvPr/>
        </p:nvCxnSpPr>
        <p:spPr>
          <a:xfrm rot="5400000">
            <a:off x="8805309" y="2311765"/>
            <a:ext cx="851596" cy="30398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963EBF-74F7-DD4B-854A-73B24AD438ED}"/>
              </a:ext>
            </a:extLst>
          </p:cNvPr>
          <p:cNvSpPr txBox="1"/>
          <p:nvPr/>
        </p:nvSpPr>
        <p:spPr>
          <a:xfrm>
            <a:off x="6318803" y="1813406"/>
            <a:ext cx="25297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Non-linear</a:t>
            </a:r>
            <a:br>
              <a:rPr lang="en-US" dirty="0"/>
            </a:br>
            <a:r>
              <a:rPr lang="en-US" dirty="0"/>
              <a:t>Transformation</a:t>
            </a:r>
            <a:br>
              <a:rPr lang="en-US" dirty="0"/>
            </a:br>
            <a:r>
              <a:rPr lang="en-US" dirty="0"/>
              <a:t>(Activation Function)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0CA021-D1F0-B246-85D1-EDEFA9CBE14C}"/>
              </a:ext>
            </a:extLst>
          </p:cNvPr>
          <p:cNvCxnSpPr>
            <a:cxnSpLocks/>
          </p:cNvCxnSpPr>
          <p:nvPr/>
        </p:nvCxnSpPr>
        <p:spPr>
          <a:xfrm>
            <a:off x="5966544" y="4645972"/>
            <a:ext cx="497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043403-C9BD-4A71-2D23-82091EAA2A9E}"/>
                  </a:ext>
                </a:extLst>
              </p:cNvPr>
              <p:cNvSpPr txBox="1"/>
              <p:nvPr/>
            </p:nvSpPr>
            <p:spPr>
              <a:xfrm>
                <a:off x="3477000" y="1810898"/>
                <a:ext cx="1970218" cy="1822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1. Linear</a:t>
                </a:r>
                <a:br>
                  <a:rPr lang="en-US" dirty="0"/>
                </a:br>
                <a:r>
                  <a:rPr lang="en-US" dirty="0"/>
                  <a:t>Transformation: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𝒘𝒙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043403-C9BD-4A71-2D23-82091EAA2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000" y="1810898"/>
                <a:ext cx="1970218" cy="1822487"/>
              </a:xfrm>
              <a:prstGeom prst="rect">
                <a:avLst/>
              </a:prstGeom>
              <a:blipFill>
                <a:blip r:embed="rId10"/>
                <a:stretch>
                  <a:fillRect l="-28662" t="-24138" r="-2548" b="-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2F4CE1C-028C-1EED-38F4-FC5CDB85BD80}"/>
              </a:ext>
            </a:extLst>
          </p:cNvPr>
          <p:cNvSpPr txBox="1"/>
          <p:nvPr/>
        </p:nvSpPr>
        <p:spPr>
          <a:xfrm>
            <a:off x="9994369" y="4389426"/>
            <a:ext cx="1299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CB54A1-471F-2E72-A6DD-B09B58C5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00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D54-A070-3379-F834-54050147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Calculating the Loss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2AE3-6275-24ED-99E3-93643ED8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554E73-D862-3972-DBCA-AFD0625CD7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45" y="1879381"/>
            <a:ext cx="5948655" cy="388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8C17E4-633B-59C2-5AE0-C178B7B610E7}"/>
                  </a:ext>
                </a:extLst>
              </p:cNvPr>
              <p:cNvSpPr txBox="1"/>
              <p:nvPr/>
            </p:nvSpPr>
            <p:spPr>
              <a:xfrm>
                <a:off x="9518389" y="4696938"/>
                <a:ext cx="1670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AU" sz="240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8C17E4-633B-59C2-5AE0-C178B7B61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389" y="4696938"/>
                <a:ext cx="1670137" cy="461665"/>
              </a:xfrm>
              <a:prstGeom prst="rect">
                <a:avLst/>
              </a:prstGeom>
              <a:blipFill>
                <a:blip r:embed="rId3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977A1F-7DE9-C62A-679F-740F17BA331A}"/>
              </a:ext>
            </a:extLst>
          </p:cNvPr>
          <p:cNvSpPr txBox="1"/>
          <p:nvPr/>
        </p:nvSpPr>
        <p:spPr>
          <a:xfrm>
            <a:off x="6016752" y="1408790"/>
            <a:ext cx="59486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Loss</a:t>
            </a:r>
            <a:r>
              <a:rPr lang="en-US" dirty="0"/>
              <a:t>: the difference between the prediction and the actual value for the individual data instance.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Example </a:t>
            </a:r>
            <a:r>
              <a:rPr lang="en-US" b="1" dirty="0"/>
              <a:t>Loss Function</a:t>
            </a:r>
            <a:r>
              <a:rPr lang="en-US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Cost</a:t>
            </a:r>
            <a:r>
              <a:rPr lang="en-US" dirty="0"/>
              <a:t>: The aggregate of the losses of all data instances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Example </a:t>
            </a:r>
            <a:r>
              <a:rPr lang="en-US" b="1" dirty="0"/>
              <a:t>Cost Function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AU" dirty="0" err="1"/>
              <a:t>θ</a:t>
            </a:r>
            <a:r>
              <a:rPr lang="en-US" dirty="0"/>
              <a:t> are all the </a:t>
            </a:r>
            <a:r>
              <a:rPr lang="en-US" b="1" dirty="0"/>
              <a:t>model parameters: w’s and b’s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Goal</a:t>
            </a:r>
            <a:r>
              <a:rPr lang="en-US" dirty="0"/>
              <a:t> in training the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3F6236-5333-CBFA-C612-DCF1A1648004}"/>
                  </a:ext>
                </a:extLst>
              </p:cNvPr>
              <p:cNvSpPr txBox="1"/>
              <p:nvPr/>
            </p:nvSpPr>
            <p:spPr>
              <a:xfrm>
                <a:off x="9378552" y="2397705"/>
                <a:ext cx="234723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3F6236-5333-CBFA-C612-DCF1A1648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552" y="2397705"/>
                <a:ext cx="2347235" cy="392993"/>
              </a:xfrm>
              <a:prstGeom prst="rect">
                <a:avLst/>
              </a:prstGeom>
              <a:blipFill>
                <a:blip r:embed="rId4"/>
                <a:stretch>
                  <a:fillRect t="-312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DAB76D5-3A1A-565C-F899-A17481C7D88C}"/>
              </a:ext>
            </a:extLst>
          </p:cNvPr>
          <p:cNvSpPr/>
          <p:nvPr/>
        </p:nvSpPr>
        <p:spPr>
          <a:xfrm>
            <a:off x="4404332" y="3819525"/>
            <a:ext cx="1860330" cy="353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823034-F873-D6A0-DF96-F8FD79514A2B}"/>
                  </a:ext>
                </a:extLst>
              </p:cNvPr>
              <p:cNvSpPr txBox="1"/>
              <p:nvPr/>
            </p:nvSpPr>
            <p:spPr>
              <a:xfrm>
                <a:off x="4032345" y="3784987"/>
                <a:ext cx="2252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A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AU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823034-F873-D6A0-DF96-F8FD79514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345" y="3784987"/>
                <a:ext cx="2252841" cy="369332"/>
              </a:xfrm>
              <a:prstGeom prst="rect">
                <a:avLst/>
              </a:prstGeom>
              <a:blipFill>
                <a:blip r:embed="rId5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957C-3708-116B-7751-57B11595EB7A}"/>
                  </a:ext>
                </a:extLst>
              </p:cNvPr>
              <p:cNvSpPr txBox="1"/>
              <p:nvPr/>
            </p:nvSpPr>
            <p:spPr>
              <a:xfrm>
                <a:off x="8597809" y="3120536"/>
                <a:ext cx="4126001" cy="95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AU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</m:e>
                          </m:d>
                          <m:r>
                            <a:rPr lang="en-AU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3957C-3708-116B-7751-57B11595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809" y="3120536"/>
                <a:ext cx="4126001" cy="957826"/>
              </a:xfrm>
              <a:prstGeom prst="rect">
                <a:avLst/>
              </a:prstGeom>
              <a:blipFill>
                <a:blip r:embed="rId6"/>
                <a:stretch>
                  <a:fillRect t="-97403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63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Classification metrics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599" cy="4743341"/>
          </a:xfrm>
        </p:spPr>
        <p:txBody>
          <a:bodyPr>
            <a:normAutofit/>
          </a:bodyPr>
          <a:lstStyle/>
          <a:p>
            <a:r>
              <a:rPr lang="en-AU" b="1" i="0" dirty="0">
                <a:effectLst/>
                <a:latin typeface="Söhne"/>
              </a:rPr>
              <a:t>Accuracy</a:t>
            </a:r>
            <a:r>
              <a:rPr lang="en-AU" b="0" i="0" dirty="0">
                <a:effectLst/>
                <a:latin typeface="Söhne"/>
              </a:rPr>
              <a:t>: </a:t>
            </a:r>
            <a:endParaRPr lang="en-AU" dirty="0">
              <a:latin typeface="Söhne"/>
            </a:endParaRPr>
          </a:p>
          <a:p>
            <a:pPr lvl="1"/>
            <a:r>
              <a:rPr lang="en-AU" b="0" i="0" dirty="0">
                <a:effectLst/>
                <a:latin typeface="Söhne"/>
              </a:rPr>
              <a:t>Measure the percentage of correctly classified instances. </a:t>
            </a:r>
          </a:p>
          <a:p>
            <a:r>
              <a:rPr lang="en-AU" b="1" i="0" dirty="0">
                <a:effectLst/>
                <a:latin typeface="Söhne"/>
              </a:rPr>
              <a:t>Precision:</a:t>
            </a:r>
          </a:p>
          <a:p>
            <a:pPr lvl="1"/>
            <a:r>
              <a:rPr lang="en-AU" dirty="0">
                <a:latin typeface="Söhne"/>
              </a:rPr>
              <a:t>Proportion of true positive predictions among all positive predictions.</a:t>
            </a:r>
          </a:p>
          <a:p>
            <a:pPr lvl="1"/>
            <a:r>
              <a:rPr lang="en-AU" dirty="0">
                <a:latin typeface="Söhne"/>
              </a:rPr>
              <a:t>“Out of all positive predictions, how many were correct?”</a:t>
            </a:r>
          </a:p>
          <a:p>
            <a:r>
              <a:rPr lang="en-AU" b="1" i="0" dirty="0">
                <a:effectLst/>
                <a:latin typeface="Söhne"/>
              </a:rPr>
              <a:t>Recall:</a:t>
            </a:r>
          </a:p>
          <a:p>
            <a:pPr lvl="1"/>
            <a:r>
              <a:rPr lang="en-AU" dirty="0">
                <a:latin typeface="Söhne"/>
              </a:rPr>
              <a:t>Proportion of true positive predictions among all actual positive instances.</a:t>
            </a:r>
          </a:p>
          <a:p>
            <a:pPr lvl="1"/>
            <a:r>
              <a:rPr lang="en-AU" dirty="0">
                <a:latin typeface="Söhne"/>
              </a:rPr>
              <a:t>“Out of all actual positives, how many were correctly identified?”</a:t>
            </a:r>
          </a:p>
          <a:p>
            <a:r>
              <a:rPr lang="en-AU" b="1" i="0" dirty="0">
                <a:effectLst/>
                <a:latin typeface="Söhne"/>
              </a:rPr>
              <a:t>F1 Score:</a:t>
            </a:r>
          </a:p>
          <a:p>
            <a:pPr lvl="1"/>
            <a:r>
              <a:rPr lang="en-AU" b="0" i="0" dirty="0">
                <a:effectLst/>
                <a:latin typeface="Söhne"/>
              </a:rPr>
              <a:t>Harmonic mean of precision and recall, balancing both metrics.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3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1912"/>
            <a:ext cx="10515600" cy="1325563"/>
          </a:xfrm>
        </p:spPr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EDD1E-E19A-F1AC-F8EE-38CFB0E0770B}"/>
              </a:ext>
            </a:extLst>
          </p:cNvPr>
          <p:cNvSpPr txBox="1"/>
          <p:nvPr/>
        </p:nvSpPr>
        <p:spPr>
          <a:xfrm>
            <a:off x="4624552" y="1371775"/>
            <a:ext cx="717856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 </a:t>
            </a:r>
            <a:r>
              <a:rPr lang="en-US" b="1" dirty="0"/>
              <a:t>confusion matrix</a:t>
            </a:r>
            <a:r>
              <a:rPr lang="en-US" dirty="0"/>
              <a:t> is useful for calculating these metrics.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Example with 100 instances: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r>
              <a:rPr lang="en-US" dirty="0"/>
              <a:t> = TP + TN / (TP + FP + FN + TN)</a:t>
            </a:r>
          </a:p>
          <a:p>
            <a:pPr algn="l"/>
            <a:r>
              <a:rPr lang="en-US" dirty="0"/>
              <a:t>	= 85 / 100 = 85%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Precision</a:t>
            </a:r>
            <a:r>
              <a:rPr lang="en-US" dirty="0"/>
              <a:t> = TP / (TP + FP)</a:t>
            </a:r>
          </a:p>
          <a:p>
            <a:pPr algn="l"/>
            <a:r>
              <a:rPr lang="en-US" dirty="0"/>
              <a:t>	= 45 / 55 = 81.82%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Recall</a:t>
            </a:r>
            <a:r>
              <a:rPr lang="en-US" dirty="0"/>
              <a:t> = TP / (TP + FN)</a:t>
            </a:r>
          </a:p>
          <a:p>
            <a:pPr algn="l"/>
            <a:r>
              <a:rPr lang="en-US" dirty="0"/>
              <a:t>	= 45 / 50 = 90%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F1 Score</a:t>
            </a:r>
            <a:r>
              <a:rPr lang="en-US" dirty="0"/>
              <a:t> = 2 * Precision * Recall / (Precision + Recall)</a:t>
            </a:r>
          </a:p>
          <a:p>
            <a:pPr algn="l"/>
            <a:r>
              <a:rPr lang="en-US" dirty="0"/>
              <a:t>	= 2 * 0.8182 * 0.90 / (0.90 + 0.8182)</a:t>
            </a:r>
          </a:p>
          <a:p>
            <a:pPr algn="l"/>
            <a:r>
              <a:rPr lang="en-US" dirty="0"/>
              <a:t>	= 85.71%</a:t>
            </a:r>
          </a:p>
        </p:txBody>
      </p:sp>
      <p:pic>
        <p:nvPicPr>
          <p:cNvPr id="12" name="Picture 11" descr="A diagram of negative outcomes&#10;&#10;Description automatically generated">
            <a:extLst>
              <a:ext uri="{FF2B5EF4-FFF2-40B4-BE49-F238E27FC236}">
                <a16:creationId xmlns:a16="http://schemas.microsoft.com/office/drawing/2014/main" id="{503B723E-BFBF-1AB6-F36B-969F5F9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71" y="852557"/>
            <a:ext cx="3030574" cy="2925514"/>
          </a:xfrm>
          <a:prstGeom prst="rect">
            <a:avLst/>
          </a:prstGeom>
        </p:spPr>
      </p:pic>
      <p:pic>
        <p:nvPicPr>
          <p:cNvPr id="14" name="Picture 13" descr="A diagram of a number of outcomes&#10;&#10;Description automatically generated with medium confidence">
            <a:extLst>
              <a:ext uri="{FF2B5EF4-FFF2-40B4-BE49-F238E27FC236}">
                <a16:creationId xmlns:a16="http://schemas.microsoft.com/office/drawing/2014/main" id="{C438CA40-6F21-F47A-FBEA-656C64642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47" y="3795960"/>
            <a:ext cx="3055177" cy="292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5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Regression and validation metrics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4751" cy="4351338"/>
          </a:xfrm>
        </p:spPr>
        <p:txBody>
          <a:bodyPr>
            <a:normAutofit/>
          </a:bodyPr>
          <a:lstStyle/>
          <a:p>
            <a:r>
              <a:rPr lang="en-AU" sz="2400" b="1" i="0" dirty="0">
                <a:effectLst/>
                <a:latin typeface="Söhne"/>
              </a:rPr>
              <a:t>Mean Absolute Error (MAE)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Commonly used for regression tasks, it measures the average absolute difference between predicted and actual values.</a:t>
            </a:r>
          </a:p>
          <a:p>
            <a:r>
              <a:rPr lang="en-AU" sz="2400" b="1" i="0" dirty="0">
                <a:effectLst/>
                <a:latin typeface="Söhne"/>
              </a:rPr>
              <a:t>Mean Squared Error (MSE)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Another regression metric, measures the average squared difference between predicted and actual values, giving higher weight to larger errors.</a:t>
            </a:r>
          </a:p>
          <a:p>
            <a:r>
              <a:rPr lang="en-AU" sz="2400" b="1" i="0" dirty="0">
                <a:effectLst/>
                <a:latin typeface="Söhne"/>
              </a:rPr>
              <a:t>Cross-Validation Scores</a:t>
            </a:r>
            <a:r>
              <a:rPr lang="en-AU" sz="2400" b="0" i="0" dirty="0">
                <a:effectLst/>
                <a:latin typeface="Söhne"/>
              </a:rPr>
              <a:t>: </a:t>
            </a:r>
          </a:p>
          <a:p>
            <a:pPr lvl="1"/>
            <a:r>
              <a:rPr lang="en-AU" sz="2000" b="0" i="0" dirty="0">
                <a:effectLst/>
                <a:latin typeface="Söhne"/>
              </a:rPr>
              <a:t>Assess model performance on multiple subsets of the data to check for overfitting and assess generalization.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  <p:pic>
        <p:nvPicPr>
          <p:cNvPr id="9" name="Picture 8" descr="A line graph with dots and circles&#10;&#10;Description automatically generated">
            <a:extLst>
              <a:ext uri="{FF2B5EF4-FFF2-40B4-BE49-F238E27FC236}">
                <a16:creationId xmlns:a16="http://schemas.microsoft.com/office/drawing/2014/main" id="{146C3544-0A5A-0239-3C9F-6890C2331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7" y="1981616"/>
            <a:ext cx="6297099" cy="4777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6984D4-DADA-60E9-330F-157CA9EAF67F}"/>
              </a:ext>
            </a:extLst>
          </p:cNvPr>
          <p:cNvSpPr txBox="1"/>
          <p:nvPr/>
        </p:nvSpPr>
        <p:spPr>
          <a:xfrm>
            <a:off x="6342553" y="4538748"/>
            <a:ext cx="572676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Example regression problem: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Dots are actual data points.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Line is the learned function (“line of best fit”).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X are the intercepts.</a:t>
            </a:r>
          </a:p>
        </p:txBody>
      </p:sp>
    </p:spTree>
    <p:extLst>
      <p:ext uri="{BB962C8B-B14F-4D97-AF65-F5344CB8AC3E}">
        <p14:creationId xmlns:p14="http://schemas.microsoft.com/office/powerpoint/2010/main" val="3251517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Metrics for Monitoring Model Performance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6" name="Picture 5" descr="A mathematical equations with numbers and symbols&#10;&#10;Description automatically generated">
            <a:extLst>
              <a:ext uri="{FF2B5EF4-FFF2-40B4-BE49-F238E27FC236}">
                <a16:creationId xmlns:a16="http://schemas.microsoft.com/office/drawing/2014/main" id="{C3E1F431-3938-1747-3F26-889F2FCE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4" y="1825625"/>
            <a:ext cx="3908335" cy="2403626"/>
          </a:xfrm>
          <a:prstGeom prst="rect">
            <a:avLst/>
          </a:prstGeom>
        </p:spPr>
      </p:pic>
      <p:pic>
        <p:nvPicPr>
          <p:cNvPr id="4" name="Picture 3" descr="A diagram of a line graph&#10;&#10;Description automatically generated">
            <a:extLst>
              <a:ext uri="{FF2B5EF4-FFF2-40B4-BE49-F238E27FC236}">
                <a16:creationId xmlns:a16="http://schemas.microsoft.com/office/drawing/2014/main" id="{0E0EA039-9E94-2F76-0A17-B0DF9986E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10" y="2045425"/>
            <a:ext cx="7010912" cy="4812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A91D6-3046-A492-5918-B05342818529}"/>
              </a:ext>
            </a:extLst>
          </p:cNvPr>
          <p:cNvSpPr txBox="1"/>
          <p:nvPr/>
        </p:nvSpPr>
        <p:spPr>
          <a:xfrm>
            <a:off x="6521229" y="4700528"/>
            <a:ext cx="51662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Errors </a:t>
            </a:r>
            <a:r>
              <a:rPr lang="en-US" b="1" dirty="0"/>
              <a:t>e</a:t>
            </a:r>
            <a:r>
              <a:rPr lang="en-US" dirty="0"/>
              <a:t> are the differences between the actual </a:t>
            </a:r>
            <a:r>
              <a:rPr lang="en-US" b="1" dirty="0"/>
              <a:t>y</a:t>
            </a:r>
            <a:r>
              <a:rPr lang="en-US" dirty="0"/>
              <a:t> and the predicted </a:t>
            </a:r>
            <a:r>
              <a:rPr lang="cy-GB" b="1" dirty="0"/>
              <a:t>ŷ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You can see how the MSE </a:t>
            </a:r>
            <a:r>
              <a:rPr lang="en-US" dirty="0" err="1"/>
              <a:t>penalises</a:t>
            </a:r>
            <a:r>
              <a:rPr lang="en-US" dirty="0"/>
              <a:t> larger errors.</a:t>
            </a:r>
          </a:p>
        </p:txBody>
      </p:sp>
    </p:spTree>
    <p:extLst>
      <p:ext uri="{BB962C8B-B14F-4D97-AF65-F5344CB8AC3E}">
        <p14:creationId xmlns:p14="http://schemas.microsoft.com/office/powerpoint/2010/main" val="394579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machine learning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Prepare the environment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Define the task and prepare the data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Select the model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Preprocess the data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Train and configure hyperparameters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Evaluate the model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b="0" dirty="0">
                <a:latin typeface="Söhne"/>
              </a:rPr>
              <a:t>Deploy the model and run inference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282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</a:t>
            </a:r>
            <a:r>
              <a:rPr lang="en-AU" sz="4000" i="0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wnership of the ML lifecycle</a:t>
            </a:r>
            <a:endParaRPr lang="en-A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latin typeface="Söhne"/>
              </a:rPr>
              <a:t>Demo 1: consume a trained capability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Rekognition: AWS owns the model lifecycle; we supply the input and use the result.</a:t>
            </a:r>
            <a:endParaRPr lang="en-AU" dirty="0"/>
          </a:p>
          <a:p>
            <a:r>
              <a:rPr lang="en-AU" b="1" dirty="0">
                <a:latin typeface="Söhne"/>
              </a:rPr>
              <a:t>Demo 2: configure a general-purpose model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Bedrock: we select a model, design prompts, and evaluate its responses.</a:t>
            </a:r>
            <a:endParaRPr lang="en-AU" dirty="0"/>
          </a:p>
          <a:p>
            <a:r>
              <a:rPr lang="en-AU" b="1" dirty="0">
                <a:latin typeface="Söhne"/>
              </a:rPr>
              <a:t>Demo 3: build and operate a custom model</a:t>
            </a:r>
            <a:endParaRPr lang="en-AU" dirty="0"/>
          </a:p>
          <a:p>
            <a:pPr lvl="1"/>
            <a:r>
              <a:rPr lang="en-AU" b="0" dirty="0">
                <a:latin typeface="Söhne"/>
              </a:rPr>
              <a:t>SageMaker AI: we take responsibility for data, training, evaluation, and deployment.</a:t>
            </a:r>
            <a:br>
              <a:rPr lang="en-AU" b="0" dirty="0">
                <a:latin typeface="Söhne"/>
              </a:rPr>
            </a:br>
            <a:endParaRPr lang="en-AU" dirty="0"/>
          </a:p>
          <a:p>
            <a:pPr marL="0" indent="0">
              <a:buNone/>
            </a:pPr>
            <a:r>
              <a:rPr lang="en-AU" sz="2400" dirty="0">
                <a:latin typeface="Söhne"/>
              </a:rPr>
              <a:t>Across the demos, more of the ML lifecycle becomes our responsibility.</a:t>
            </a:r>
            <a:endParaRPr lang="en-A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77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AE7-55D4-FF06-EBA9-095AFCE6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1: Consume a managed AI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EC3-D29B-19AB-91B0-6B0309F9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250" b="1" dirty="0">
                <a:latin typeface="Söhne"/>
              </a:rPr>
              <a:t>Architecture: S3, Lambda, Rekognition, DynamoDB, CloudWatch.</a:t>
            </a:r>
            <a:endParaRPr lang="en-AU" sz="2250" dirty="0"/>
          </a:p>
          <a:p>
            <a:r>
              <a:rPr lang="en-AU" sz="2200" b="0" dirty="0">
                <a:latin typeface="Söhne"/>
              </a:rPr>
              <a:t>Demo action: upload an image to S3 and inspect the labels stored by the triggered workflow.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We own: the event flow, application logic, data storage, and interpretation of the result.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AWS manages: model development, training, tuning, hosting, and scaling.</a:t>
            </a:r>
            <a:endParaRPr lang="en-AU" sz="2200" dirty="0"/>
          </a:p>
          <a:p>
            <a:r>
              <a:rPr lang="en-AU" sz="2200" b="0" dirty="0">
                <a:latin typeface="Söhne"/>
              </a:rPr>
              <a:t>Lifecycle view: we begin near deployment and inference; most earlier stages are hidden.</a:t>
            </a:r>
            <a:endParaRPr lang="en-AU" sz="2200" dirty="0"/>
          </a:p>
          <a:p>
            <a:r>
              <a:rPr lang="en-AU" sz="2250" b="1" dirty="0">
                <a:latin typeface="Söhne"/>
              </a:rPr>
              <a:t>Key idea: We are consuming a trained capability, not building a model.</a:t>
            </a:r>
            <a:endParaRPr lang="en-AU" sz="22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907C-8E01-2369-CC66-8FBE371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97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9560-7780-E39E-C00C-5ED7673C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0" i="0" dirty="0">
                <a:solidFill>
                  <a:srgbClr val="242424"/>
                </a:solidFill>
                <a:effectLst/>
              </a:rPr>
              <a:t>Foundation models and prompting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10B33-6E8B-5E03-9649-20D0EE90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7CD57E-26AF-097E-5C84-736405F9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05945" cy="4667250"/>
          </a:xfrm>
        </p:spPr>
        <p:txBody>
          <a:bodyPr>
            <a:normAutofit/>
          </a:bodyPr>
          <a:lstStyle/>
          <a:p>
            <a:r>
              <a:rPr lang="en-AU" sz="2250" b="0" dirty="0">
                <a:latin typeface="Söhne"/>
              </a:rPr>
              <a:t>Transformers use attention to model relationships across a sequence.</a:t>
            </a:r>
            <a:endParaRPr lang="en-AU" sz="2250"/>
          </a:p>
          <a:p>
            <a:r>
              <a:rPr lang="en-AU" sz="2250" b="0" dirty="0">
                <a:latin typeface="Söhne"/>
              </a:rPr>
              <a:t>Foundation models train on broad datasets and can support many downstream tasks.</a:t>
            </a:r>
            <a:endParaRPr lang="en-AU" sz="2250"/>
          </a:p>
          <a:p>
            <a:r>
              <a:rPr lang="en-AU" sz="2250" b="0" dirty="0">
                <a:latin typeface="Söhne"/>
              </a:rPr>
              <a:t>Applications usually begin by selecting a model and designing prompts.</a:t>
            </a:r>
            <a:endParaRPr lang="en-AU" sz="2250"/>
          </a:p>
          <a:p>
            <a:r>
              <a:rPr lang="en-AU" sz="2250" b="1" dirty="0">
                <a:latin typeface="Söhne"/>
              </a:rPr>
              <a:t>Prompting changes the model's instructions and context; it does not change the model weights.</a:t>
            </a:r>
            <a:endParaRPr lang="en-AU" sz="225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54A5C1-92D8-ADEF-9200-76E9AED0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620" y="1825625"/>
            <a:ext cx="4807671" cy="324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956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2: Configure a foundation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79"/>
            <a:ext cx="10515600" cy="4673984"/>
          </a:xfrm>
        </p:spPr>
        <p:txBody>
          <a:bodyPr>
            <a:normAutofit/>
          </a:bodyPr>
          <a:lstStyle/>
          <a:p>
            <a:r>
              <a:rPr lang="en-AU" sz="2250" b="1" dirty="0">
                <a:latin typeface="Söhne"/>
              </a:rPr>
              <a:t>Application path: client request, API Gateway, Lambda, Amazon Bedrock.</a:t>
            </a:r>
            <a:endParaRPr lang="en-AU" sz="2250"/>
          </a:p>
          <a:p>
            <a:r>
              <a:rPr lang="en-AU" sz="2250" b="0" dirty="0">
                <a:latin typeface="Söhne"/>
              </a:rPr>
              <a:t>We own: model choice, prompt design, application logic, and response evaluation.</a:t>
            </a:r>
            <a:endParaRPr lang="en-AU" sz="2250"/>
          </a:p>
          <a:p>
            <a:r>
              <a:rPr lang="en-AU" sz="2250" b="0" dirty="0">
                <a:latin typeface="Söhne"/>
              </a:rPr>
              <a:t>AWS manages: pre-training, model hosting, infrastructure, and scaling.</a:t>
            </a:r>
            <a:endParaRPr lang="en-AU" sz="2250"/>
          </a:p>
          <a:p>
            <a:r>
              <a:rPr lang="en-AU" sz="2150" b="0" dirty="0">
                <a:latin typeface="Söhne"/>
              </a:rPr>
              <a:t>Lifecycle view: model selection and evaluation become more visible, but we still do not train the model.</a:t>
            </a:r>
            <a:endParaRPr lang="en-AU" sz="2150"/>
          </a:p>
          <a:p>
            <a:r>
              <a:rPr lang="en-AU" sz="2150" b="1" dirty="0">
                <a:latin typeface="Söhne"/>
              </a:rPr>
              <a:t>Key idea: A foundation model is flexible, but it remains a managed component in this demo.</a:t>
            </a:r>
            <a:endParaRPr lang="en-AU" sz="2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2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3: Build and operate a custom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r>
              <a:rPr lang="en-AU" sz="2200" b="1" dirty="0">
                <a:latin typeface="Söhne"/>
              </a:rPr>
              <a:t>Workflow: S3, SageMaker hyperparameter tuning, model artifact, endpoint.</a:t>
            </a:r>
            <a:endParaRPr lang="en-AU" sz="2200"/>
          </a:p>
          <a:p>
            <a:r>
              <a:rPr lang="en-AU" sz="2200" b="0" dirty="0">
                <a:latin typeface="Söhne"/>
              </a:rPr>
              <a:t>Store prepared training and validation data in S3.</a:t>
            </a:r>
            <a:endParaRPr lang="en-AU" sz="2200"/>
          </a:p>
          <a:p>
            <a:r>
              <a:rPr lang="en-AU" sz="2200" b="0" dirty="0">
                <a:latin typeface="Söhne"/>
              </a:rPr>
              <a:t>Launch several training jobs across a hyperparameter search space.</a:t>
            </a:r>
            <a:endParaRPr lang="en-AU" sz="2200"/>
          </a:p>
          <a:p>
            <a:r>
              <a:rPr lang="en-AU" sz="2200" b="0" dirty="0">
                <a:latin typeface="Söhne"/>
              </a:rPr>
              <a:t>Compare jobs using one objective metric and select the best model artifact.</a:t>
            </a:r>
            <a:endParaRPr lang="en-AU" sz="2200"/>
          </a:p>
          <a:p>
            <a:r>
              <a:rPr lang="en-AU" sz="2200" b="0" dirty="0">
                <a:latin typeface="Söhne"/>
              </a:rPr>
              <a:t>Deploy the selected model to an endpoint and invoke it with new data.</a:t>
            </a:r>
            <a:endParaRPr lang="en-AU" sz="2200"/>
          </a:p>
          <a:p>
            <a:r>
              <a:rPr lang="en-AU" sz="2050" b="1" dirty="0">
                <a:latin typeface="Söhne"/>
              </a:rPr>
              <a:t>Lifecycle view: We now own the decisions across the complete ML lifecycle.</a:t>
            </a:r>
            <a:endParaRPr lang="en-AU" sz="20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37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Preparing your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Hardware and Software Requirements:</a:t>
            </a:r>
            <a:r>
              <a:rPr lang="en-AU" b="0" i="0" dirty="0">
                <a:effectLst/>
              </a:rPr>
              <a:t> Ensure you have access to a suitable environment for training. </a:t>
            </a:r>
          </a:p>
          <a:p>
            <a:pPr lvl="1"/>
            <a:r>
              <a:rPr lang="en-AU" i="0" dirty="0">
                <a:effectLst/>
              </a:rPr>
              <a:t>AWS EC2 Instances, S3 buckets, EBS</a:t>
            </a:r>
            <a:r>
              <a:rPr lang="en-AU" dirty="0"/>
              <a:t>, etc., and associated policies.</a:t>
            </a:r>
            <a:r>
              <a:rPr lang="en-AU" i="0" dirty="0">
                <a:effectLst/>
              </a:rPr>
              <a:t> </a:t>
            </a:r>
          </a:p>
          <a:p>
            <a:pPr lvl="1"/>
            <a:r>
              <a:rPr lang="en-AU" i="0" dirty="0">
                <a:effectLst/>
              </a:rPr>
              <a:t>Amazon Elastic Inference: Elastic Inference allows you to attach low-cost GPU-powered inference acceleration to your EC2 instances.</a:t>
            </a:r>
          </a:p>
          <a:p>
            <a:pPr lvl="1"/>
            <a:r>
              <a:rPr lang="en-AU" i="0" dirty="0">
                <a:effectLst/>
              </a:rPr>
              <a:t>Amazon CloudWatch: CloudWatch provides monitoring and logging</a:t>
            </a:r>
          </a:p>
          <a:p>
            <a:pPr algn="l"/>
            <a:r>
              <a:rPr lang="en-AU" b="1" i="0" dirty="0">
                <a:effectLst/>
              </a:rPr>
              <a:t>Install Required Libraries:</a:t>
            </a:r>
            <a:r>
              <a:rPr lang="en-AU" dirty="0"/>
              <a:t> </a:t>
            </a:r>
            <a:r>
              <a:rPr lang="en-AU" i="0" dirty="0">
                <a:effectLst/>
              </a:rPr>
              <a:t>Use Pip to install the necessary Python libraries. Common libraries:</a:t>
            </a:r>
          </a:p>
          <a:p>
            <a:pPr lvl="1"/>
            <a:r>
              <a:rPr lang="en-AU" b="0" i="0" dirty="0">
                <a:effectLst/>
              </a:rPr>
              <a:t>NumPy and Pandas</a:t>
            </a:r>
            <a:r>
              <a:rPr lang="en-AU" dirty="0"/>
              <a:t> (data manipulation)</a:t>
            </a:r>
            <a:endParaRPr lang="en-AU" b="0" i="0" dirty="0">
              <a:effectLst/>
            </a:endParaRPr>
          </a:p>
          <a:p>
            <a:pPr lvl="1"/>
            <a:r>
              <a:rPr lang="en-AU" b="0" i="0" dirty="0">
                <a:effectLst/>
              </a:rPr>
              <a:t>Matplotlib and Seaborn (visualisation)</a:t>
            </a:r>
          </a:p>
          <a:p>
            <a:pPr lvl="1"/>
            <a:r>
              <a:rPr lang="en-AU" b="0" i="0" dirty="0">
                <a:effectLst/>
              </a:rPr>
              <a:t>Scikit-learn (for ML) TensorFlow or </a:t>
            </a:r>
            <a:r>
              <a:rPr lang="en-AU" b="0" i="0" dirty="0" err="1">
                <a:effectLst/>
              </a:rPr>
              <a:t>PyTorch</a:t>
            </a:r>
            <a:r>
              <a:rPr lang="en-AU" b="0" i="0" dirty="0">
                <a:effectLst/>
              </a:rPr>
              <a:t> (for deep learning).</a:t>
            </a:r>
            <a:endParaRPr lang="en-AU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509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Task Definition and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Task Definition:</a:t>
            </a:r>
          </a:p>
          <a:p>
            <a:pPr lvl="1"/>
            <a:r>
              <a:rPr lang="en-AU" dirty="0"/>
              <a:t>What is the problem to solve, and what business logic do we need to do so?</a:t>
            </a:r>
          </a:p>
          <a:p>
            <a:pPr lvl="1"/>
            <a:r>
              <a:rPr lang="en-AU" i="0" dirty="0">
                <a:effectLst/>
              </a:rPr>
              <a:t>Data Domain: </a:t>
            </a:r>
            <a:r>
              <a:rPr lang="en-AU" dirty="0"/>
              <a:t>i</a:t>
            </a:r>
            <a:r>
              <a:rPr lang="en-AU" i="0" dirty="0">
                <a:effectLst/>
              </a:rPr>
              <a:t>mage, text, audio, tabular?</a:t>
            </a:r>
          </a:p>
          <a:p>
            <a:pPr lvl="1"/>
            <a:r>
              <a:rPr lang="en-AU" dirty="0"/>
              <a:t>Task: c</a:t>
            </a:r>
            <a:r>
              <a:rPr lang="en-AU" i="0" dirty="0">
                <a:effectLst/>
              </a:rPr>
              <a:t>lassification</a:t>
            </a:r>
            <a:r>
              <a:rPr lang="en-AU" dirty="0"/>
              <a:t>,</a:t>
            </a:r>
            <a:r>
              <a:rPr lang="en-AU" i="0" dirty="0">
                <a:effectLst/>
              </a:rPr>
              <a:t> </a:t>
            </a:r>
            <a:r>
              <a:rPr lang="en-AU" dirty="0"/>
              <a:t>r</a:t>
            </a:r>
            <a:r>
              <a:rPr lang="en-AU" i="0" dirty="0">
                <a:effectLst/>
              </a:rPr>
              <a:t>egression, generati</a:t>
            </a:r>
            <a:r>
              <a:rPr lang="en-AU" dirty="0"/>
              <a:t>ve outcomes?</a:t>
            </a:r>
            <a:endParaRPr lang="en-AU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Data Collection:</a:t>
            </a:r>
          </a:p>
          <a:p>
            <a:pPr lvl="1"/>
            <a:r>
              <a:rPr lang="en-AU" i="0" dirty="0">
                <a:effectLst/>
              </a:rPr>
              <a:t>Identify and gather relevant data sources (e.g., databases, APIs, web scraping).</a:t>
            </a:r>
          </a:p>
          <a:p>
            <a:pPr lvl="1"/>
            <a:r>
              <a:rPr lang="en-AU" i="0" dirty="0">
                <a:effectLst/>
              </a:rPr>
              <a:t>Ensure the data is clean, accurate, and representative of the problem domain.</a:t>
            </a:r>
          </a:p>
          <a:p>
            <a:pPr lvl="1"/>
            <a:r>
              <a:rPr lang="en-AU" i="0" dirty="0">
                <a:effectLst/>
              </a:rPr>
              <a:t>(Try to) collect sufficient data to train robust models, considering the complexity of the task.</a:t>
            </a:r>
          </a:p>
          <a:p>
            <a:pPr lvl="1"/>
            <a:endParaRPr lang="en-AU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283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</a:rPr>
              <a:t>What model are we going to use?</a:t>
            </a:r>
          </a:p>
          <a:p>
            <a:r>
              <a:rPr lang="en-AU" dirty="0"/>
              <a:t>Certain ML/AI models work best in specific contexts (below is a generalisation):</a:t>
            </a:r>
          </a:p>
          <a:p>
            <a:pPr lvl="1"/>
            <a:r>
              <a:rPr lang="en-AU" i="0" dirty="0">
                <a:effectLst/>
              </a:rPr>
              <a:t>Convolution Neural Networks (CNNs) are ideal for images.</a:t>
            </a:r>
          </a:p>
          <a:p>
            <a:pPr lvl="1"/>
            <a:r>
              <a:rPr lang="en-AU" i="0" dirty="0">
                <a:effectLst/>
              </a:rPr>
              <a:t>Sequence models (LSTM, RNN, Transformers) are ideal for text.</a:t>
            </a:r>
          </a:p>
          <a:p>
            <a:pPr lvl="1"/>
            <a:r>
              <a:rPr lang="en-AU" i="0" dirty="0">
                <a:effectLst/>
              </a:rPr>
              <a:t>Tree-based models (Random Forests, Boosting models) are suitable for tabular, non-structured data.</a:t>
            </a:r>
          </a:p>
          <a:p>
            <a:r>
              <a:rPr lang="en-AU" b="1" dirty="0"/>
              <a:t>Evaluate Costs Involved</a:t>
            </a:r>
          </a:p>
          <a:p>
            <a:pPr lvl="1"/>
            <a:r>
              <a:rPr lang="en-AU" dirty="0"/>
              <a:t>Select the size of the model that is appropriate for the scale of your data, and your budget.</a:t>
            </a:r>
          </a:p>
          <a:p>
            <a:pPr lvl="1"/>
            <a:r>
              <a:rPr lang="en-AU" i="0" dirty="0">
                <a:effectLst/>
              </a:rPr>
              <a:t>More data = larger models = higher costs.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57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673984"/>
          </a:xfrm>
        </p:spPr>
        <p:txBody>
          <a:bodyPr>
            <a:normAutofit/>
          </a:bodyPr>
          <a:lstStyle/>
          <a:p>
            <a:r>
              <a:rPr lang="en-AU" b="1" dirty="0"/>
              <a:t>Steps needed to prepare data for ML</a:t>
            </a:r>
          </a:p>
          <a:p>
            <a:pPr lvl="1"/>
            <a:r>
              <a:rPr lang="en-AU" dirty="0"/>
              <a:t>Handling</a:t>
            </a:r>
            <a:r>
              <a:rPr lang="en-AU" i="0" dirty="0">
                <a:effectLst/>
              </a:rPr>
              <a:t> missing values via imputation (replace missing values with substitutes),  r</a:t>
            </a:r>
            <a:r>
              <a:rPr lang="en-AU" dirty="0"/>
              <a:t>emoving the datapoint itself, etc.</a:t>
            </a:r>
          </a:p>
          <a:p>
            <a:pPr lvl="1"/>
            <a:r>
              <a:rPr lang="en-AU" dirty="0">
                <a:latin typeface="Söhne"/>
              </a:rPr>
              <a:t>Ensure features are on a comparable scale, crucial for many machine learning algorithms. </a:t>
            </a:r>
          </a:p>
          <a:p>
            <a:pPr lvl="2"/>
            <a:r>
              <a:rPr lang="en-AU" dirty="0">
                <a:latin typeface="Söhne"/>
              </a:rPr>
              <a:t>Standardization: Centres data by removing the mean and scales it by dividing it by the standard deviation. </a:t>
            </a:r>
          </a:p>
          <a:p>
            <a:pPr lvl="2"/>
            <a:r>
              <a:rPr lang="en-AU" dirty="0">
                <a:latin typeface="Söhne"/>
              </a:rPr>
              <a:t>Normalization: Rescales data to a fixed range, typically [0, 1], which is helpful for algorithms like neural networks that are sensitive to the scale of input data.</a:t>
            </a:r>
            <a:endParaRPr lang="en-AU" b="1" dirty="0">
              <a:latin typeface="Söhne"/>
            </a:endParaRPr>
          </a:p>
          <a:p>
            <a:r>
              <a:rPr lang="en-AU" b="1" i="0" dirty="0">
                <a:effectLst/>
              </a:rPr>
              <a:t>Some </a:t>
            </a:r>
            <a:r>
              <a:rPr lang="en-AU" b="1" i="0" dirty="0" err="1">
                <a:effectLst/>
              </a:rPr>
              <a:t>preprocessing</a:t>
            </a:r>
            <a:r>
              <a:rPr lang="en-AU" b="1" i="0" dirty="0">
                <a:effectLst/>
              </a:rPr>
              <a:t> steps are data format-specific:</a:t>
            </a:r>
          </a:p>
          <a:p>
            <a:pPr lvl="1"/>
            <a:r>
              <a:rPr lang="en-AU" dirty="0"/>
              <a:t>Text: tokenisation, stop-word removal, stemming/lemmatization, etc. </a:t>
            </a:r>
          </a:p>
          <a:p>
            <a:pPr lvl="1"/>
            <a:r>
              <a:rPr lang="en-AU" i="0" dirty="0">
                <a:effectLst/>
              </a:rPr>
              <a:t>Tabular Data: encoding categorical values,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01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AU" dirty="0"/>
              <a:t>Training and </a:t>
            </a:r>
            <a:r>
              <a:rPr lang="en-AU" dirty="0" err="1"/>
              <a:t>Hyperparameterisation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i="0" dirty="0">
                <a:effectLst/>
              </a:rPr>
              <a:t>Model ingests your data and extracts patterns/knowledge from it, and updates these beliefs iteratively as more data is feed </a:t>
            </a:r>
            <a:r>
              <a:rPr lang="en-AU" dirty="0"/>
              <a:t>through.	</a:t>
            </a:r>
          </a:p>
          <a:p>
            <a:r>
              <a:rPr lang="en-AU" i="0" dirty="0">
                <a:effectLst/>
              </a:rPr>
              <a:t>Important considerations:</a:t>
            </a:r>
          </a:p>
          <a:p>
            <a:pPr lvl="1"/>
            <a:r>
              <a:rPr lang="en-AU" b="1" i="0" dirty="0">
                <a:effectLst/>
              </a:rPr>
              <a:t>Loss Function:</a:t>
            </a:r>
            <a:r>
              <a:rPr lang="en-AU" b="0" i="0" dirty="0">
                <a:effectLst/>
              </a:rPr>
              <a:t> Define a loss function that calculates the error between model predictions and ground truth.</a:t>
            </a:r>
          </a:p>
          <a:p>
            <a:pPr lvl="1"/>
            <a:r>
              <a:rPr lang="en-AU" b="1" i="0" dirty="0">
                <a:effectLst/>
              </a:rPr>
              <a:t>Optimizer:</a:t>
            </a:r>
            <a:r>
              <a:rPr lang="en-AU" b="0" i="0" dirty="0">
                <a:effectLst/>
              </a:rPr>
              <a:t> Choose an optimizer such as Adam or RMSprop to update the model's weights during training.</a:t>
            </a:r>
          </a:p>
          <a:p>
            <a:pPr lvl="1"/>
            <a:r>
              <a:rPr lang="en-AU" b="1" i="0" dirty="0">
                <a:effectLst/>
              </a:rPr>
              <a:t>Training Loop:</a:t>
            </a:r>
            <a:r>
              <a:rPr lang="en-AU" b="0" i="0" dirty="0">
                <a:effectLst/>
              </a:rPr>
              <a:t> Implement a training loop that iterates through your dataset. </a:t>
            </a:r>
          </a:p>
          <a:p>
            <a:pPr lvl="1"/>
            <a:r>
              <a:rPr lang="en-AU" b="1" i="0" dirty="0">
                <a:effectLst/>
              </a:rPr>
              <a:t>Validation:</a:t>
            </a:r>
            <a:r>
              <a:rPr lang="en-AU" b="0" i="0" dirty="0">
                <a:effectLst/>
              </a:rPr>
              <a:t> Periodically evaluate your model on a validation dataset to check its performance during training.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0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AU" dirty="0"/>
              <a:t>Training and </a:t>
            </a:r>
            <a:r>
              <a:rPr lang="en-AU" dirty="0" err="1"/>
              <a:t>Hyperparameterisation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b="1" dirty="0"/>
              <a:t>Training: </a:t>
            </a:r>
            <a:r>
              <a:rPr lang="en-AU" dirty="0"/>
              <a:t>model ingests your data and extracts patterns/knowledge from it, and updates these beliefs iteratively as more data is feed through.	</a:t>
            </a:r>
            <a:endParaRPr lang="en-AU" b="1" dirty="0"/>
          </a:p>
          <a:p>
            <a:r>
              <a:rPr lang="en-AU" b="1" dirty="0"/>
              <a:t>Hyperparameters</a:t>
            </a:r>
            <a:r>
              <a:rPr lang="en-AU" dirty="0"/>
              <a:t>: settings that control the learning process.</a:t>
            </a:r>
          </a:p>
          <a:p>
            <a:pPr lvl="1"/>
            <a:r>
              <a:rPr lang="en-AU" b="0" i="0" dirty="0">
                <a:effectLst/>
              </a:rPr>
              <a:t>The hyperparameters and their values depend on your specific task and dataset.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17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6.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  <a:latin typeface="Söhne"/>
              </a:rPr>
              <a:t>Test Data:</a:t>
            </a:r>
            <a:r>
              <a:rPr lang="en-AU" b="0" i="0" dirty="0">
                <a:effectLst/>
                <a:latin typeface="Söhne"/>
              </a:rPr>
              <a:t> evaluate your fine-tuned model on a separate test dataset.</a:t>
            </a:r>
          </a:p>
          <a:p>
            <a:pPr lvl="1"/>
            <a:r>
              <a:rPr lang="en-AU" b="1" i="0" dirty="0">
                <a:effectLst/>
                <a:latin typeface="Söhne"/>
              </a:rPr>
              <a:t>Metrics:</a:t>
            </a:r>
            <a:r>
              <a:rPr lang="en-AU" b="0" i="0" dirty="0">
                <a:effectLst/>
                <a:latin typeface="Söhne"/>
              </a:rPr>
              <a:t> Calculate and report relevant evaluation metrics for your specific task</a:t>
            </a:r>
            <a:r>
              <a:rPr lang="en-AU" dirty="0">
                <a:latin typeface="Söhne"/>
              </a:rPr>
              <a:t>: </a:t>
            </a:r>
            <a:r>
              <a:rPr lang="en-AU" b="0" i="0" dirty="0">
                <a:effectLst/>
                <a:latin typeface="Söhne"/>
              </a:rPr>
              <a:t>Accuracy, </a:t>
            </a:r>
            <a:r>
              <a:rPr lang="en-AU" dirty="0">
                <a:latin typeface="Söhne"/>
              </a:rPr>
              <a:t>P</a:t>
            </a:r>
            <a:r>
              <a:rPr lang="en-AU" b="0" i="0" dirty="0">
                <a:effectLst/>
                <a:latin typeface="Söhne"/>
              </a:rPr>
              <a:t>recision, Recall, F1, AUC, etc.</a:t>
            </a:r>
          </a:p>
          <a:p>
            <a:r>
              <a:rPr lang="en-AU" b="1" i="0" dirty="0">
                <a:effectLst/>
                <a:latin typeface="Söhne"/>
              </a:rPr>
              <a:t>Monitoring: </a:t>
            </a:r>
            <a:r>
              <a:rPr lang="en-AU" b="0" i="0" dirty="0">
                <a:effectLst/>
                <a:latin typeface="Söhne"/>
              </a:rPr>
              <a:t>Continuously monitor your training and evaluating process. </a:t>
            </a:r>
          </a:p>
          <a:p>
            <a:r>
              <a:rPr lang="en-AU" b="1" i="0" dirty="0">
                <a:effectLst/>
                <a:latin typeface="Söhne"/>
              </a:rPr>
              <a:t>Debugging:</a:t>
            </a:r>
            <a:r>
              <a:rPr lang="en-AU" b="0" i="0" dirty="0">
                <a:effectLst/>
                <a:latin typeface="Söhne"/>
              </a:rPr>
              <a:t> If your model isn't performing as expected, check your data, </a:t>
            </a:r>
            <a:r>
              <a:rPr lang="en-AU" b="0" i="0" dirty="0" err="1">
                <a:effectLst/>
                <a:latin typeface="Söhne"/>
              </a:rPr>
              <a:t>preprocessing</a:t>
            </a:r>
            <a:r>
              <a:rPr lang="en-AU" b="0" i="0" dirty="0">
                <a:effectLst/>
                <a:latin typeface="Söhne"/>
              </a:rPr>
              <a:t>, and model architecture for issues.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401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13E-51FC-F146-BB1D-7728E34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7. Deployment and Inference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8E87-485E-A44A-83CF-B5EB041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1"/>
            <a:ext cx="10515600" cy="4926834"/>
          </a:xfrm>
        </p:spPr>
        <p:txBody>
          <a:bodyPr>
            <a:normAutofit/>
          </a:bodyPr>
          <a:lstStyle/>
          <a:p>
            <a:r>
              <a:rPr lang="en-AU" b="1" i="0" dirty="0">
                <a:effectLst/>
                <a:latin typeface="Söhne"/>
              </a:rPr>
              <a:t>Model Deployment</a:t>
            </a:r>
          </a:p>
          <a:p>
            <a:pPr lvl="1"/>
            <a:r>
              <a:rPr lang="en-AU" i="0" dirty="0">
                <a:effectLst/>
                <a:latin typeface="Söhne"/>
              </a:rPr>
              <a:t>Make a trained model available for use in a production environment.</a:t>
            </a:r>
          </a:p>
          <a:p>
            <a:pPr lvl="1"/>
            <a:r>
              <a:rPr lang="en-AU" i="0" dirty="0">
                <a:effectLst/>
                <a:latin typeface="Söhne"/>
              </a:rPr>
              <a:t>Deploy models to endpoints for real-time or batch predictions. Users can then access the model via the endpoint(s).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effectLst/>
                <a:latin typeface="Söhne"/>
              </a:rPr>
              <a:t>Inference</a:t>
            </a:r>
          </a:p>
          <a:p>
            <a:pPr lvl="1"/>
            <a:r>
              <a:rPr lang="en-AU" i="0" dirty="0">
                <a:effectLst/>
                <a:latin typeface="Söhne"/>
              </a:rPr>
              <a:t>Applying a trained machine learning model to new, unseen data to generate predictions or decisions.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F32C-9A06-544D-B91A-956C227F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62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risk: overfitting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6488D7-6041-CF2E-2274-BD1A2A82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6"/>
            <a:ext cx="10515600" cy="4351338"/>
          </a:xfrm>
        </p:spPr>
        <p:txBody>
          <a:bodyPr/>
          <a:lstStyle/>
          <a:p>
            <a:r>
              <a:rPr lang="en-US" b="1" dirty="0"/>
              <a:t>Overfitting</a:t>
            </a:r>
          </a:p>
          <a:p>
            <a:pPr lvl="1"/>
            <a:r>
              <a:rPr lang="en-US" dirty="0"/>
              <a:t>The model cannot generalize and fits too closely to the training dataset, and cannot predict new data well; it performs well on training data but poorly on unseen data.</a:t>
            </a:r>
          </a:p>
          <a:p>
            <a:pPr lvl="1"/>
            <a:r>
              <a:rPr lang="en-US" dirty="0"/>
              <a:t>Often due to noisy data, using too small of a training dataset, or using too complex of a model relative to the data.</a:t>
            </a:r>
          </a:p>
        </p:txBody>
      </p:sp>
      <p:pic>
        <p:nvPicPr>
          <p:cNvPr id="12" name="Picture 11" descr="A diagram of a game&#10;&#10;Description automatically generated">
            <a:extLst>
              <a:ext uri="{FF2B5EF4-FFF2-40B4-BE49-F238E27FC236}">
                <a16:creationId xmlns:a16="http://schemas.microsoft.com/office/drawing/2014/main" id="{4C61DDA2-73E0-75EF-4B9A-CA060AC0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110065"/>
            <a:ext cx="7772400" cy="2309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66262A-BE4F-24A0-A83E-4AA4CA7184EE}"/>
              </a:ext>
            </a:extLst>
          </p:cNvPr>
          <p:cNvSpPr txBox="1"/>
          <p:nvPr/>
        </p:nvSpPr>
        <p:spPr>
          <a:xfrm>
            <a:off x="2576987" y="6345734"/>
            <a:ext cx="1520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Underfitting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05600-E280-B15F-12B4-82DCA09AD03B}"/>
              </a:ext>
            </a:extLst>
          </p:cNvPr>
          <p:cNvSpPr txBox="1"/>
          <p:nvPr/>
        </p:nvSpPr>
        <p:spPr>
          <a:xfrm>
            <a:off x="5289193" y="6345734"/>
            <a:ext cx="1303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Right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BCCEE3-8EFF-2C3A-D34B-E0D70FA939EC}"/>
              </a:ext>
            </a:extLst>
          </p:cNvPr>
          <p:cNvSpPr txBox="1"/>
          <p:nvPr/>
        </p:nvSpPr>
        <p:spPr>
          <a:xfrm>
            <a:off x="7991398" y="6345734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Overfitting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F7D7FF0-5405-8448-D695-CE3197ED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988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risk: underfitting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6488D7-6041-CF2E-2274-BD1A2A82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6"/>
            <a:ext cx="10515600" cy="4351338"/>
          </a:xfrm>
        </p:spPr>
        <p:txBody>
          <a:bodyPr/>
          <a:lstStyle/>
          <a:p>
            <a:r>
              <a:rPr lang="en-US" b="1" dirty="0"/>
              <a:t>Underfitting</a:t>
            </a:r>
          </a:p>
          <a:p>
            <a:pPr lvl="1"/>
            <a:r>
              <a:rPr lang="en-US" dirty="0"/>
              <a:t>Model fails to capture patterns and does not learn the underlying trend in the data, leading to poor performance on both training and test data.</a:t>
            </a:r>
          </a:p>
          <a:p>
            <a:pPr lvl="1"/>
            <a:r>
              <a:rPr lang="en-US" dirty="0"/>
              <a:t>Often due to using too few parameters, or overly simplistic assumptions, or not training a sufficiently complex model for long enough.</a:t>
            </a:r>
          </a:p>
          <a:p>
            <a:endParaRPr lang="en-US" dirty="0"/>
          </a:p>
        </p:txBody>
      </p:sp>
      <p:pic>
        <p:nvPicPr>
          <p:cNvPr id="12" name="Picture 11" descr="A diagram of a game&#10;&#10;Description automatically generated">
            <a:extLst>
              <a:ext uri="{FF2B5EF4-FFF2-40B4-BE49-F238E27FC236}">
                <a16:creationId xmlns:a16="http://schemas.microsoft.com/office/drawing/2014/main" id="{4C61DDA2-73E0-75EF-4B9A-CA060AC0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110065"/>
            <a:ext cx="7772400" cy="2309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DBC8C-C90F-11C4-1CED-6516566572D6}"/>
              </a:ext>
            </a:extLst>
          </p:cNvPr>
          <p:cNvSpPr txBox="1"/>
          <p:nvPr/>
        </p:nvSpPr>
        <p:spPr>
          <a:xfrm>
            <a:off x="2461635" y="6345734"/>
            <a:ext cx="175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Underfitting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85833-C24D-228E-13DE-FFAECC8C82D4}"/>
              </a:ext>
            </a:extLst>
          </p:cNvPr>
          <p:cNvSpPr txBox="1"/>
          <p:nvPr/>
        </p:nvSpPr>
        <p:spPr>
          <a:xfrm>
            <a:off x="5289193" y="6345734"/>
            <a:ext cx="1303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3BCF6-77A0-8CB6-A19E-11FB8928C12D}"/>
              </a:ext>
            </a:extLst>
          </p:cNvPr>
          <p:cNvSpPr txBox="1"/>
          <p:nvPr/>
        </p:nvSpPr>
        <p:spPr>
          <a:xfrm>
            <a:off x="8094919" y="6345734"/>
            <a:ext cx="1375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92E6-3FFE-E1F3-ABA8-0F9C96C0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428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4FD48-04DC-E54E-A152-B0C8EAE41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2733" y="2292355"/>
            <a:ext cx="6506533" cy="2273289"/>
          </a:xfr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Example: </a:t>
            </a:r>
            <a:r>
              <a:rPr lang="en-US" dirty="0"/>
              <a:t>Classifier to recognize images as either Wolf or Husky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0C8A939-C5F4-9400-E3D8-282BAF840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733" y="4216727"/>
            <a:ext cx="6761496" cy="2126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F03A27-A3B2-6193-FA2A-2FCEE2B0916A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31F36-11C4-5FA8-665A-723E17D4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0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Predictions indicate strong</a:t>
            </a:r>
            <a:br>
              <a:rPr lang="en-AU" dirty="0"/>
            </a:br>
            <a:r>
              <a:rPr lang="en-AU" dirty="0"/>
              <a:t>performance!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Does this mean we</a:t>
            </a:r>
            <a:br>
              <a:rPr lang="en-AU" dirty="0"/>
            </a:br>
            <a:r>
              <a:rPr lang="en-AU" dirty="0"/>
              <a:t>have a good model?</a:t>
            </a:r>
            <a:endParaRPr lang="en-US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F9C87877-7378-9ACC-9864-2094FC6D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1180" y="2030111"/>
            <a:ext cx="6298157" cy="429492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D0FA52-57AF-C066-8BB9-8751C48C1D9D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D118586-A87D-BF7B-51D2-E835D528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773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risk: misleading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F808C-7797-7740-B723-34D20BAD494B}"/>
              </a:ext>
            </a:extLst>
          </p:cNvPr>
          <p:cNvSpPr txBox="1"/>
          <p:nvPr/>
        </p:nvSpPr>
        <p:spPr>
          <a:xfrm>
            <a:off x="838200" y="6438020"/>
            <a:ext cx="8202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Sameer Singh UC Irvine https://</a:t>
            </a:r>
            <a:r>
              <a:rPr lang="en-US" sz="1400" dirty="0" err="1"/>
              <a:t>www.slideshare.net</a:t>
            </a:r>
            <a:r>
              <a:rPr lang="en-US" sz="1400" dirty="0"/>
              <a:t>/0xdata/explaining-</a:t>
            </a:r>
            <a:r>
              <a:rPr lang="en-US" sz="1400" dirty="0" err="1"/>
              <a:t>blackbox</a:t>
            </a:r>
            <a:r>
              <a:rPr lang="en-US" sz="1400" dirty="0"/>
              <a:t>-machine-learning-predictions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Having Too Much Confidence in Model Outcomes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Turns out, the model was recognising snow as the distinguishing feature for wolf!</a:t>
            </a:r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FD705EB2-8A1E-8568-361E-B57376D05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3547" y="2587714"/>
            <a:ext cx="7104906" cy="3850306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677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b="1" dirty="0"/>
              <a:t>Model Interpretability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AU" dirty="0"/>
              <a:t>AI models are “black boxes”, but large research efforts are put into model </a:t>
            </a:r>
            <a:r>
              <a:rPr lang="en-AU" dirty="0" err="1"/>
              <a:t>explainability</a:t>
            </a:r>
            <a:r>
              <a:rPr lang="en-AU" dirty="0"/>
              <a:t> and interpretability. 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b="1" dirty="0"/>
              <a:t>Model Hosting and Scalability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Cost effective hosting strategies as models scale and use-cases grow.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Multi-model deployment, AWS </a:t>
            </a:r>
            <a:r>
              <a:rPr lang="en-US" dirty="0" err="1"/>
              <a:t>AutoScaling</a:t>
            </a:r>
            <a:r>
              <a:rPr lang="en-US" dirty="0"/>
              <a:t>, AWS </a:t>
            </a:r>
            <a:r>
              <a:rPr lang="en-US" dirty="0" err="1"/>
              <a:t>DeepSpeed</a:t>
            </a:r>
            <a:r>
              <a:rPr lang="en-US" dirty="0"/>
              <a:t> Inference.</a:t>
            </a:r>
            <a:endParaRPr lang="en-AU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b="1" dirty="0"/>
              <a:t>Beyond AWS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dirty="0"/>
              <a:t>AI/ML services on other cloud platforms like Google Cloud AI, Microsoft Azure AI, and even GitHub.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Interest Topics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115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04C5ABE-A06C-E925-50E0-2A87061BB8C2}"/>
              </a:ext>
            </a:extLst>
          </p:cNvPr>
          <p:cNvSpPr txBox="1">
            <a:spLocks/>
          </p:cNvSpPr>
          <p:nvPr/>
        </p:nvSpPr>
        <p:spPr>
          <a:xfrm>
            <a:off x="838200" y="1562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DED5D-4B0B-3542-A743-F2DF04F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1B3FAD-D9E7-DC9A-EDF5-13D12347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9184374-A4FB-DD3D-0FB3-D00BFD77D2AB}"/>
              </a:ext>
            </a:extLst>
          </p:cNvPr>
          <p:cNvSpPr txBox="1">
            <a:spLocks/>
          </p:cNvSpPr>
          <p:nvPr/>
        </p:nvSpPr>
        <p:spPr>
          <a:xfrm>
            <a:off x="990600" y="17152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dirty="0"/>
              <a:t>Questions and conversations: </a:t>
            </a:r>
            <a:r>
              <a:rPr lang="en-AU" dirty="0" err="1"/>
              <a:t>larry.huynh@uwa.edu.au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88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76497</TotalTime>
  <Words>2110</Words>
  <Application>Microsoft Macintosh PowerPoint</Application>
  <PresentationFormat>Widescreen</PresentationFormat>
  <Paragraphs>262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Söhne</vt:lpstr>
      <vt:lpstr>Tahoma</vt:lpstr>
      <vt:lpstr>Times New Roman</vt:lpstr>
      <vt:lpstr>Wingdings</vt:lpstr>
      <vt:lpstr>Office Theme</vt:lpstr>
      <vt:lpstr>AI and AWS</vt:lpstr>
      <vt:lpstr>PowerPoint Presentation</vt:lpstr>
      <vt:lpstr>What is AI? </vt:lpstr>
      <vt:lpstr>PowerPoint Presentation</vt:lpstr>
      <vt:lpstr>Types of Machine Learning </vt:lpstr>
      <vt:lpstr>Neural Network Infrastructure </vt:lpstr>
      <vt:lpstr>Perceptron (Single node neural network)</vt:lpstr>
      <vt:lpstr>Calculating the Loss</vt:lpstr>
      <vt:lpstr>Classification metrics</vt:lpstr>
      <vt:lpstr>Metrics for Monitoring Model Performance</vt:lpstr>
      <vt:lpstr>Regression and validation metrics</vt:lpstr>
      <vt:lpstr>Metrics for Monitoring Model Performance</vt:lpstr>
      <vt:lpstr>Metrics for Monitoring Model Performance</vt:lpstr>
      <vt:lpstr>The machine learning lifecycle</vt:lpstr>
      <vt:lpstr>Ownership of the ML lifecycle</vt:lpstr>
      <vt:lpstr>Demo 1: Consume a managed AI service</vt:lpstr>
      <vt:lpstr>Foundation models and prompting</vt:lpstr>
      <vt:lpstr>Demo 2: Configure a foundation model</vt:lpstr>
      <vt:lpstr>Demo 3: Build and operate a custom model</vt:lpstr>
      <vt:lpstr>1. Preparing your Environment</vt:lpstr>
      <vt:lpstr>2. Task Definition and Data Preparation</vt:lpstr>
      <vt:lpstr>3. Model Selection</vt:lpstr>
      <vt:lpstr>4. Data Preprocessing</vt:lpstr>
      <vt:lpstr>5. Training and Hyperparameterisation</vt:lpstr>
      <vt:lpstr>5. Training and Hyperparameterisation</vt:lpstr>
      <vt:lpstr>6. Evaluation</vt:lpstr>
      <vt:lpstr>7. Deployment and Inference</vt:lpstr>
      <vt:lpstr>Training risk: overfitting</vt:lpstr>
      <vt:lpstr>Training risk: underfitting</vt:lpstr>
      <vt:lpstr>Evaluation risk: misleading validation</vt:lpstr>
      <vt:lpstr>Evaluation risk: misleading validation</vt:lpstr>
      <vt:lpstr>Evaluation risk: misleading validation</vt:lpstr>
      <vt:lpstr>Further Interest Topics</vt:lpstr>
      <vt:lpstr>Thanks!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CITS5503 AI and AWS: ML lifecycle throughline</dc:title>
  <dc:subject>Scalable and Cloud Computing</dc:subject>
  <dc:creator>Andreas Haeberlen</dc:creator>
  <cp:keywords>NETS 212</cp:keywords>
  <dc:description>http://www.cis.upenn.edu/~nets212/</dc:description>
  <cp:lastModifiedBy>Larry Huynh (21516059)</cp:lastModifiedBy>
  <cp:revision>4196</cp:revision>
  <dcterms:created xsi:type="dcterms:W3CDTF">1999-05-23T11:18:07Z</dcterms:created>
  <dcterms:modified xsi:type="dcterms:W3CDTF">2026-09-13T11:10:03Z</dcterms:modified>
  <cp:category>Lecture</cp:category>
</cp:coreProperties>
</file>